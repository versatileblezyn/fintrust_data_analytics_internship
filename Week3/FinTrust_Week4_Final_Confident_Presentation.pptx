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25–35 seconds.</a:t>
            </a:r>
          </a:p>
          <a:p/>
          <a:p>
            <a:r>
              <a:t>Hello, and thank you for listening. This presentation brings together my FinTrust Digital Bank Data Analytics work for Week 4 of the AnalystLab Africa Experience Lab. I will cover the business question, tools, validation, findings and recommendations. The goal was to turn the evidence into clear business decisions. The project uses synthetic data for January to March 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35–45 seconds.</a:t>
            </a:r>
          </a:p>
          <a:p/>
          <a:p>
            <a:r>
              <a:t>The project addressed how FinTrust could use customer and transaction data to understand activity, service performance and review patterns. I worked with 1,500 customer records and 12,000 transaction records covering the first quarter of 2026. The analysis focused on data reliability, performance comparisons and business recommendations, keeping the work connected to management needs.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35–45 seconds.</a:t>
            </a:r>
          </a:p>
          <a:p/>
          <a:p>
            <a:r>
              <a:t>I used SQL, Python and Power BI for complementary parts of the workflow. SQL supported aggregation, segmentation and data-integrity checks. Python supported exploratory analysis, including relationships between customer activity and transaction value. Power BI brought KPIs and comparisons into an interactive management view. I documented the definitions and findings so the results could be explained and reproduced.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45–55 seconds.</a:t>
            </a:r>
          </a:p>
          <a:p/>
          <a:p>
            <a:r>
              <a:t>I reviewed data quality before interpreting business performance. Checks found 12,000 distinct transaction IDs, no duplicate IDs, no orphan transaction-to-customer links and no customers without transactions. The null-customer-ID check also returned zero. In the raw data, Device_Type and Location each had 96 missing values; these were labelled “Unknown” in the cleaned data rather than guessed. The review flag is synthetic and does not prove fraud.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40–50 seconds.</a:t>
            </a:r>
          </a:p>
          <a:p/>
          <a:p>
            <a:r>
              <a:t>Total transaction value was 560.48 million naira, and average transaction value was 46,706 naira and 45 kobo. The success rate was 90.47 percent, based on 10,856 successful transactions out of 12,000. The synthetic review-flag rate was 19.60 percent. There were 1,144 unsuccessful outcomes when failed, reversed and pending transactions were grouped together. I checked these headline values against SQL aggregation results.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40–50 seconds.</a:t>
            </a:r>
          </a:p>
          <a:p/>
          <a:p>
            <a:r>
              <a:t>The status breakdown shows that 90.47 percent of transactions were successful, while 630 failed, 326 were reversed and 188 were pending. Together these categories account for all 12,000 records. Monthly volume was 4,133 transactions in January, 3,734 in February and 4,133 in March. March had the highest monthly transaction value at approximately 196.20 million naira. This shows why volume and value should be viewed together.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45–55 seconds.</a:t>
            </a:r>
          </a:p>
          <a:p/>
          <a:p>
            <a:r>
              <a:t>The top 10 percent of transactions by value contributed 56.15 percent of total value. This is a transaction-level finding, not a claim about the top 10 percent of customers. The correlation between customer transaction frequency and total value was approximately 0.503, showing a positive relationship, although customer rankings were not identical. Mobile App had the highest transaction volume within each of the four segments. Volume alone does not prove the best service outcomes.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50–60 seconds.</a:t>
            </a:r>
          </a:p>
          <a:p/>
          <a:p>
            <a:r>
              <a:t>International transactions had a review-flag rate of 36.88 percent, compared with 18.88 percent for domestic transactions. The international rate was higher across all six transaction types checked. This suggests review patterns deserve further examination, but the flag does not establish fraud. Transfer on Mobile App accounted for 167 unsuccessful records and Card Purchase on Mobile App for 134. These counts should be considered alongside group volumes and rates.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35–45 seconds.</a:t>
            </a:r>
          </a:p>
          <a:p/>
          <a:p>
            <a:r>
              <a:t>Power BI brought the analysis into a management-focused report. It includes headline transaction KPIs, trends, segment and channel comparisons, transaction status and review patterns. The four slicers—Customer Segment, Transaction Type, Transaction Channel and Transaction Status—were checked and confirmed to work. Headline KPI values were also checked against expected calculations.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50–60 seconds.</a:t>
            </a:r>
          </a:p>
          <a:p/>
          <a:p>
            <a:r>
              <a:t>I recommend reviewing international review flags by transaction type and assessing potential false positives before changing controls. Next, investigate unsuccessful Transfer and Card Purchase journeys on the Mobile App using both counts and rates. Monitor the service experience for high-value transactions because a relatively small share of transactions accounts for a large proportion of value. Finally, keep KPI definitions consistent across SQL, Python and Power BI.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40–50 seconds.</a:t>
            </a:r>
          </a:p>
          <a:p/>
          <a:p>
            <a:r>
              <a:t>My contribution provides a validated analytical view of customer and transaction activity, documented KPIs and evidence-led findings that could support future predictive risk intelligence. The wider programme describes a pathway from analytics to predictive intelligence, machine-learning workflows and knowledge-based GenAI. My work provides the analytical foundation for that pathway. The final artefacts, professional updates and recording complete the presentation package.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35–45 seconds.</a:t>
            </a:r>
          </a:p>
          <a:p/>
          <a:p>
            <a:r>
              <a:t>To conclude, this project demonstrates how structured analysis can move from data checks to decisions. I validated the headline metrics and key data relationships, identified patterns in transaction outcomes, value concentration and review flags, and translated those findings into recommendations. The key limitation is that this is synthetic data and review flags do not confirm fraud. My takeaway is that effective analytics combines reliable calculations, careful interpretation and actions grounded in evidence.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33D"/>
        </a:solidFill>
        <a:effectLst/>
      </p:bgPr>
    </p:bg>
    <p:spTree>
      <p:nvGrpSpPr>
        <p:cNvPr id="1" name=""/>
        <p:cNvGrpSpPr/>
        <p:nvPr/>
      </p:nvGrpSpPr>
      <p:grpSpPr/>
      <p:sp>
        <p:nvSpPr>
          <p:cNvPr id="2" name="Oval 1"/>
          <p:cNvSpPr/>
          <p:nvPr/>
        </p:nvSpPr>
        <p:spPr>
          <a:xfrm>
            <a:off x="8595360" y="457200"/>
            <a:ext cx="2286000" cy="2286000"/>
          </a:xfrm>
          <a:prstGeom prst="ellipse">
            <a:avLst/>
          </a:prstGeom>
          <a:solidFill>
            <a:srgbClr val="2C64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3017520"/>
            <a:ext cx="1554480" cy="1554480"/>
          </a:xfrm>
          <a:prstGeom prst="ellipse">
            <a:avLst/>
          </a:prstGeom>
          <a:solidFill>
            <a:srgbClr val="198F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138160" y="4297680"/>
            <a:ext cx="1005840" cy="1005840"/>
          </a:xfrm>
          <a:prstGeom prst="ellipse">
            <a:avLst/>
          </a:prstGeom>
          <a:solidFill>
            <a:srgbClr val="E8AE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713232"/>
            <a:ext cx="7315200" cy="274320"/>
          </a:xfrm>
          <a:prstGeom prst="rect">
            <a:avLst/>
          </a:prstGeom>
          <a:noFill/>
        </p:spPr>
        <p:txBody>
          <a:bodyPr wrap="square" lIns="54864" rIns="54864" tIns="36576" bIns="27432">
            <a:spAutoFit/>
          </a:bodyPr>
          <a:lstStyle/>
          <a:p>
            <a:pPr>
              <a:spcAft>
                <a:spcPts val="600"/>
              </a:spcAft>
              <a:defRPr sz="1200" b="1">
                <a:solidFill>
                  <a:srgbClr val="198F89"/>
                </a:solidFill>
                <a:latin typeface="Aptos"/>
              </a:defRPr>
            </a:pPr>
            <a:r>
              <a:t>ANALYSTLAB AFRICA  |  EXPERIENCE LAB</a:t>
            </a:r>
          </a:p>
        </p:txBody>
      </p:sp>
      <p:sp>
        <p:nvSpPr>
          <p:cNvPr id="6" name="TextBox 5"/>
          <p:cNvSpPr txBox="1"/>
          <p:nvPr/>
        </p:nvSpPr>
        <p:spPr>
          <a:xfrm>
            <a:off x="804672" y="1481328"/>
            <a:ext cx="7772400" cy="685800"/>
          </a:xfrm>
          <a:prstGeom prst="rect">
            <a:avLst/>
          </a:prstGeom>
          <a:noFill/>
        </p:spPr>
        <p:txBody>
          <a:bodyPr wrap="square" lIns="54864" rIns="54864" tIns="36576" bIns="27432">
            <a:spAutoFit/>
          </a:bodyPr>
          <a:lstStyle/>
          <a:p>
            <a:pPr>
              <a:spcAft>
                <a:spcPts val="600"/>
              </a:spcAft>
              <a:defRPr sz="3200" b="1">
                <a:solidFill>
                  <a:srgbClr val="FFFFFF"/>
                </a:solidFill>
                <a:latin typeface="Aptos"/>
              </a:defRPr>
            </a:pPr>
            <a:r>
              <a:t>FINTRUST DIGITAL BANK</a:t>
            </a:r>
          </a:p>
        </p:txBody>
      </p:sp>
      <p:sp>
        <p:nvSpPr>
          <p:cNvPr id="7" name="TextBox 6"/>
          <p:cNvSpPr txBox="1"/>
          <p:nvPr/>
        </p:nvSpPr>
        <p:spPr>
          <a:xfrm>
            <a:off x="841248" y="2331720"/>
            <a:ext cx="7772400" cy="502920"/>
          </a:xfrm>
          <a:prstGeom prst="rect">
            <a:avLst/>
          </a:prstGeom>
          <a:noFill/>
        </p:spPr>
        <p:txBody>
          <a:bodyPr wrap="square" lIns="54864" rIns="54864" tIns="36576" bIns="27432">
            <a:spAutoFit/>
          </a:bodyPr>
          <a:lstStyle/>
          <a:p>
            <a:pPr>
              <a:spcAft>
                <a:spcPts val="600"/>
              </a:spcAft>
              <a:defRPr sz="2200" b="0">
                <a:solidFill>
                  <a:srgbClr val="FFFFFF"/>
                </a:solidFill>
                <a:latin typeface="Aptos"/>
              </a:defRPr>
            </a:pPr>
            <a:r>
              <a:t>Week 4 Final Data Analytics Presentation</a:t>
            </a:r>
          </a:p>
        </p:txBody>
      </p:sp>
      <p:sp>
        <p:nvSpPr>
          <p:cNvPr id="8" name="TextBox 7"/>
          <p:cNvSpPr txBox="1"/>
          <p:nvPr/>
        </p:nvSpPr>
        <p:spPr>
          <a:xfrm>
            <a:off x="859536" y="3063240"/>
            <a:ext cx="7132320" cy="411480"/>
          </a:xfrm>
          <a:prstGeom prst="rect">
            <a:avLst/>
          </a:prstGeom>
          <a:noFill/>
        </p:spPr>
        <p:txBody>
          <a:bodyPr wrap="square" lIns="54864" rIns="54864" tIns="36576" bIns="27432">
            <a:spAutoFit/>
          </a:bodyPr>
          <a:lstStyle/>
          <a:p>
            <a:pPr>
              <a:spcAft>
                <a:spcPts val="600"/>
              </a:spcAft>
              <a:defRPr sz="1800" b="1">
                <a:solidFill>
                  <a:srgbClr val="E8AE43"/>
                </a:solidFill>
                <a:latin typeface="Aptos"/>
              </a:defRPr>
            </a:pPr>
            <a:r>
              <a:t>From validated data to business decisions</a:t>
            </a:r>
          </a:p>
        </p:txBody>
      </p:sp>
      <p:sp>
        <p:nvSpPr>
          <p:cNvPr id="9" name="TextBox 8"/>
          <p:cNvSpPr txBox="1"/>
          <p:nvPr/>
        </p:nvSpPr>
        <p:spPr>
          <a:xfrm>
            <a:off x="859536" y="5715000"/>
            <a:ext cx="7772400" cy="320040"/>
          </a:xfrm>
          <a:prstGeom prst="rect">
            <a:avLst/>
          </a:prstGeom>
          <a:noFill/>
        </p:spPr>
        <p:txBody>
          <a:bodyPr wrap="square" lIns="54864" rIns="54864" tIns="36576" bIns="27432">
            <a:spAutoFit/>
          </a:bodyPr>
          <a:lstStyle/>
          <a:p>
            <a:pPr>
              <a:spcAft>
                <a:spcPts val="600"/>
              </a:spcAft>
              <a:defRPr sz="1200" b="0">
                <a:solidFill>
                  <a:srgbClr val="CDDAEA"/>
                </a:solidFill>
                <a:latin typeface="Aptos"/>
              </a:defRPr>
            </a:pPr>
            <a:r>
              <a:t>Individual presentation • January–March 2026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640080" y="155448"/>
            <a:ext cx="10058400" cy="201168"/>
          </a:xfrm>
          <a:prstGeom prst="rect">
            <a:avLst/>
          </a:prstGeom>
          <a:noFill/>
        </p:spPr>
        <p:txBody>
          <a:bodyPr wrap="square" lIns="54864" rIns="54864" tIns="36576" bIns="27432">
            <a:spAutoFit/>
          </a:bodyPr>
          <a:lstStyle/>
          <a:p>
            <a:pPr>
              <a:spcAft>
                <a:spcPts val="600"/>
              </a:spcAft>
              <a:defRPr sz="900" b="1">
                <a:solidFill>
                  <a:srgbClr val="198F89"/>
                </a:solidFill>
                <a:latin typeface="Aptos"/>
              </a:defRPr>
            </a:pPr>
            <a:r>
              <a:t>01 • BUSINESS CONTEXT</a:t>
            </a:r>
          </a:p>
        </p:txBody>
      </p:sp>
      <p:sp>
        <p:nvSpPr>
          <p:cNvPr id="3" name="TextBox 2"/>
          <p:cNvSpPr txBox="1"/>
          <p:nvPr/>
        </p:nvSpPr>
        <p:spPr>
          <a:xfrm>
            <a:off x="621792" y="393192"/>
            <a:ext cx="10789920" cy="530352"/>
          </a:xfrm>
          <a:prstGeom prst="rect">
            <a:avLst/>
          </a:prstGeom>
          <a:noFill/>
        </p:spPr>
        <p:txBody>
          <a:bodyPr wrap="square" lIns="54864" rIns="54864" tIns="36576" bIns="27432">
            <a:spAutoFit/>
          </a:bodyPr>
          <a:lstStyle/>
          <a:p>
            <a:pPr>
              <a:spcAft>
                <a:spcPts val="600"/>
              </a:spcAft>
              <a:defRPr sz="2700" b="1">
                <a:solidFill>
                  <a:srgbClr val="13233D"/>
                </a:solidFill>
                <a:latin typeface="Aptos"/>
              </a:defRPr>
            </a:pPr>
            <a:r>
              <a:t>The business question</a:t>
            </a:r>
          </a:p>
        </p:txBody>
      </p:sp>
      <p:sp>
        <p:nvSpPr>
          <p:cNvPr id="4" name="Rectangle 3"/>
          <p:cNvSpPr/>
          <p:nvPr/>
        </p:nvSpPr>
        <p:spPr>
          <a:xfrm>
            <a:off x="640080" y="987552"/>
            <a:ext cx="731520" cy="50292"/>
          </a:xfrm>
          <a:prstGeom prst="rect">
            <a:avLst/>
          </a:prstGeom>
          <a:solidFill>
            <a:srgbClr val="E8AE43"/>
          </a:solidFill>
          <a:ln>
            <a:solidFill>
              <a:srgbClr val="E8AE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92240"/>
            <a:ext cx="6400800" cy="164592"/>
          </a:xfrm>
          <a:prstGeom prst="rect">
            <a:avLst/>
          </a:prstGeom>
          <a:noFill/>
        </p:spPr>
        <p:txBody>
          <a:bodyPr wrap="square" lIns="54864" rIns="54864" tIns="36576" bIns="27432">
            <a:spAutoFit/>
          </a:bodyPr>
          <a:lstStyle/>
          <a:p>
            <a:pPr>
              <a:spcAft>
                <a:spcPts val="600"/>
              </a:spcAft>
              <a:defRPr sz="800" b="1">
                <a:solidFill>
                  <a:srgbClr val="657282"/>
                </a:solidFill>
                <a:latin typeface="Aptos"/>
              </a:defRPr>
            </a:pPr>
            <a:r>
              <a:t>ANALYSTLAB AFRICA  •  FINTRUST DATA ANALYTICS</a:t>
            </a:r>
          </a:p>
        </p:txBody>
      </p:sp>
      <p:sp>
        <p:nvSpPr>
          <p:cNvPr id="6" name="TextBox 5"/>
          <p:cNvSpPr txBox="1"/>
          <p:nvPr/>
        </p:nvSpPr>
        <p:spPr>
          <a:xfrm>
            <a:off x="11109960" y="6473952"/>
            <a:ext cx="457200" cy="182880"/>
          </a:xfrm>
          <a:prstGeom prst="rect">
            <a:avLst/>
          </a:prstGeom>
          <a:noFill/>
        </p:spPr>
        <p:txBody>
          <a:bodyPr wrap="square" lIns="54864" rIns="54864" tIns="36576" bIns="27432">
            <a:spAutoFit/>
          </a:bodyPr>
          <a:lstStyle/>
          <a:p>
            <a:pPr algn="r">
              <a:spcAft>
                <a:spcPts val="600"/>
              </a:spcAft>
              <a:defRPr sz="900" b="1">
                <a:solidFill>
                  <a:srgbClr val="657282"/>
                </a:solidFill>
                <a:latin typeface="Aptos"/>
              </a:defRPr>
            </a:pPr>
            <a:r>
              <a:t>02</a:t>
            </a:r>
          </a:p>
        </p:txBody>
      </p:sp>
      <p:sp>
        <p:nvSpPr>
          <p:cNvPr id="7" name="TextBox 6"/>
          <p:cNvSpPr txBox="1"/>
          <p:nvPr/>
        </p:nvSpPr>
        <p:spPr>
          <a:xfrm>
            <a:off x="822960" y="1298448"/>
            <a:ext cx="10424160" cy="777240"/>
          </a:xfrm>
          <a:prstGeom prst="rect">
            <a:avLst/>
          </a:prstGeom>
          <a:noFill/>
        </p:spPr>
        <p:txBody>
          <a:bodyPr wrap="square" lIns="54864" rIns="54864" tIns="36576" bIns="27432">
            <a:spAutoFit/>
          </a:bodyPr>
          <a:lstStyle/>
          <a:p>
            <a:pPr>
              <a:spcAft>
                <a:spcPts val="600"/>
              </a:spcAft>
              <a:defRPr sz="2200" b="1">
                <a:solidFill>
                  <a:srgbClr val="13233D"/>
                </a:solidFill>
                <a:latin typeface="Aptos"/>
              </a:defRPr>
            </a:pPr>
            <a:r>
              <a:t>How can FinTrust use customer and transaction data to understand activity, service performance and review patterns?</a:t>
            </a:r>
          </a:p>
        </p:txBody>
      </p:sp>
      <p:sp>
        <p:nvSpPr>
          <p:cNvPr id="8" name="Rounded Rectangle 7"/>
          <p:cNvSpPr/>
          <p:nvPr/>
        </p:nvSpPr>
        <p:spPr>
          <a:xfrm>
            <a:off x="777240" y="2487168"/>
            <a:ext cx="3337560" cy="1325880"/>
          </a:xfrm>
          <a:prstGeom prst="roundRect">
            <a:avLst/>
          </a:prstGeom>
          <a:solidFill>
            <a:srgbClr val="FFFFFF"/>
          </a:solidFill>
          <a:ln>
            <a:solidFill>
              <a:srgbClr val="DD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487168"/>
            <a:ext cx="59436" cy="1325880"/>
          </a:xfrm>
          <a:prstGeom prst="rect">
            <a:avLst/>
          </a:prstGeom>
          <a:solidFill>
            <a:srgbClr val="2C64AB"/>
          </a:solidFill>
          <a:ln>
            <a:solidFill>
              <a:srgbClr val="2C64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615184"/>
            <a:ext cx="3063240" cy="219456"/>
          </a:xfrm>
          <a:prstGeom prst="rect">
            <a:avLst/>
          </a:prstGeom>
          <a:noFill/>
        </p:spPr>
        <p:txBody>
          <a:bodyPr wrap="square" lIns="54864" rIns="54864" tIns="36576" bIns="27432">
            <a:spAutoFit/>
          </a:bodyPr>
          <a:lstStyle/>
          <a:p>
            <a:pPr>
              <a:spcAft>
                <a:spcPts val="600"/>
              </a:spcAft>
              <a:defRPr sz="900" b="1">
                <a:solidFill>
                  <a:srgbClr val="657282"/>
                </a:solidFill>
                <a:latin typeface="Aptos"/>
              </a:defRPr>
            </a:pPr>
            <a:r>
              <a:t>CUSTOMERS</a:t>
            </a:r>
          </a:p>
        </p:txBody>
      </p:sp>
      <p:sp>
        <p:nvSpPr>
          <p:cNvPr id="11" name="TextBox 10"/>
          <p:cNvSpPr txBox="1"/>
          <p:nvPr/>
        </p:nvSpPr>
        <p:spPr>
          <a:xfrm>
            <a:off x="941832" y="2916936"/>
            <a:ext cx="3063240" cy="457200"/>
          </a:xfrm>
          <a:prstGeom prst="rect">
            <a:avLst/>
          </a:prstGeom>
          <a:noFill/>
        </p:spPr>
        <p:txBody>
          <a:bodyPr wrap="square" lIns="54864" rIns="54864" tIns="36576" bIns="27432">
            <a:spAutoFit/>
          </a:bodyPr>
          <a:lstStyle/>
          <a:p>
            <a:pPr>
              <a:spcAft>
                <a:spcPts val="600"/>
              </a:spcAft>
              <a:defRPr sz="2400" b="1">
                <a:solidFill>
                  <a:srgbClr val="13233D"/>
                </a:solidFill>
                <a:latin typeface="Aptos"/>
              </a:defRPr>
            </a:pPr>
            <a:r>
              <a:t>1,500</a:t>
            </a:r>
          </a:p>
        </p:txBody>
      </p:sp>
      <p:sp>
        <p:nvSpPr>
          <p:cNvPr id="12" name="TextBox 11"/>
          <p:cNvSpPr txBox="1"/>
          <p:nvPr/>
        </p:nvSpPr>
        <p:spPr>
          <a:xfrm>
            <a:off x="941832" y="3474720"/>
            <a:ext cx="3063240" cy="201168"/>
          </a:xfrm>
          <a:prstGeom prst="rect">
            <a:avLst/>
          </a:prstGeom>
          <a:noFill/>
        </p:spPr>
        <p:txBody>
          <a:bodyPr wrap="square" lIns="54864" rIns="54864" tIns="36576" bIns="27432">
            <a:spAutoFit/>
          </a:bodyPr>
          <a:lstStyle/>
          <a:p>
            <a:pPr>
              <a:spcAft>
                <a:spcPts val="600"/>
              </a:spcAft>
              <a:defRPr sz="900" b="0">
                <a:solidFill>
                  <a:srgbClr val="657282"/>
                </a:solidFill>
                <a:latin typeface="Aptos"/>
              </a:defRPr>
            </a:pPr>
            <a:r>
              <a:t>cleaned customer records</a:t>
            </a:r>
          </a:p>
        </p:txBody>
      </p:sp>
      <p:sp>
        <p:nvSpPr>
          <p:cNvPr id="13" name="Rounded Rectangle 12"/>
          <p:cNvSpPr/>
          <p:nvPr/>
        </p:nvSpPr>
        <p:spPr>
          <a:xfrm>
            <a:off x="4480559" y="2487168"/>
            <a:ext cx="3337560" cy="1325880"/>
          </a:xfrm>
          <a:prstGeom prst="roundRect">
            <a:avLst/>
          </a:prstGeom>
          <a:solidFill>
            <a:srgbClr val="FFFFFF"/>
          </a:solidFill>
          <a:ln>
            <a:solidFill>
              <a:srgbClr val="DD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59" y="2487168"/>
            <a:ext cx="59436" cy="1325880"/>
          </a:xfrm>
          <a:prstGeom prst="rect">
            <a:avLst/>
          </a:prstGeom>
          <a:solidFill>
            <a:srgbClr val="198F89"/>
          </a:solidFill>
          <a:ln>
            <a:solidFill>
              <a:srgbClr val="198F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45151" y="2615184"/>
            <a:ext cx="3063240" cy="219456"/>
          </a:xfrm>
          <a:prstGeom prst="rect">
            <a:avLst/>
          </a:prstGeom>
          <a:noFill/>
        </p:spPr>
        <p:txBody>
          <a:bodyPr wrap="square" lIns="54864" rIns="54864" tIns="36576" bIns="27432">
            <a:spAutoFit/>
          </a:bodyPr>
          <a:lstStyle/>
          <a:p>
            <a:pPr>
              <a:spcAft>
                <a:spcPts val="600"/>
              </a:spcAft>
              <a:defRPr sz="900" b="1">
                <a:solidFill>
                  <a:srgbClr val="657282"/>
                </a:solidFill>
                <a:latin typeface="Aptos"/>
              </a:defRPr>
            </a:pPr>
            <a:r>
              <a:t>TRANSACTIONS</a:t>
            </a:r>
          </a:p>
        </p:txBody>
      </p:sp>
      <p:sp>
        <p:nvSpPr>
          <p:cNvPr id="16" name="TextBox 15"/>
          <p:cNvSpPr txBox="1"/>
          <p:nvPr/>
        </p:nvSpPr>
        <p:spPr>
          <a:xfrm>
            <a:off x="4645151" y="2916936"/>
            <a:ext cx="3063240" cy="457200"/>
          </a:xfrm>
          <a:prstGeom prst="rect">
            <a:avLst/>
          </a:prstGeom>
          <a:noFill/>
        </p:spPr>
        <p:txBody>
          <a:bodyPr wrap="square" lIns="54864" rIns="54864" tIns="36576" bIns="27432">
            <a:spAutoFit/>
          </a:bodyPr>
          <a:lstStyle/>
          <a:p>
            <a:pPr>
              <a:spcAft>
                <a:spcPts val="600"/>
              </a:spcAft>
              <a:defRPr sz="2400" b="1">
                <a:solidFill>
                  <a:srgbClr val="13233D"/>
                </a:solidFill>
                <a:latin typeface="Aptos"/>
              </a:defRPr>
            </a:pPr>
            <a:r>
              <a:t>12,000</a:t>
            </a:r>
          </a:p>
        </p:txBody>
      </p:sp>
      <p:sp>
        <p:nvSpPr>
          <p:cNvPr id="17" name="TextBox 16"/>
          <p:cNvSpPr txBox="1"/>
          <p:nvPr/>
        </p:nvSpPr>
        <p:spPr>
          <a:xfrm>
            <a:off x="4645151" y="3474720"/>
            <a:ext cx="3063240" cy="201168"/>
          </a:xfrm>
          <a:prstGeom prst="rect">
            <a:avLst/>
          </a:prstGeom>
          <a:noFill/>
        </p:spPr>
        <p:txBody>
          <a:bodyPr wrap="square" lIns="54864" rIns="54864" tIns="36576" bIns="27432">
            <a:spAutoFit/>
          </a:bodyPr>
          <a:lstStyle/>
          <a:p>
            <a:pPr>
              <a:spcAft>
                <a:spcPts val="600"/>
              </a:spcAft>
              <a:defRPr sz="900" b="0">
                <a:solidFill>
                  <a:srgbClr val="657282"/>
                </a:solidFill>
                <a:latin typeface="Aptos"/>
              </a:defRPr>
            </a:pPr>
            <a:r>
              <a:t>cleaned transaction records</a:t>
            </a:r>
          </a:p>
        </p:txBody>
      </p:sp>
      <p:sp>
        <p:nvSpPr>
          <p:cNvPr id="18" name="Rounded Rectangle 17"/>
          <p:cNvSpPr/>
          <p:nvPr/>
        </p:nvSpPr>
        <p:spPr>
          <a:xfrm>
            <a:off x="8183879" y="2487168"/>
            <a:ext cx="3337560" cy="1325880"/>
          </a:xfrm>
          <a:prstGeom prst="roundRect">
            <a:avLst/>
          </a:prstGeom>
          <a:solidFill>
            <a:srgbClr val="FFFFFF"/>
          </a:solidFill>
          <a:ln>
            <a:solidFill>
              <a:srgbClr val="DD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83879" y="2487168"/>
            <a:ext cx="59436" cy="1325880"/>
          </a:xfrm>
          <a:prstGeom prst="rect">
            <a:avLst/>
          </a:prstGeom>
          <a:solidFill>
            <a:srgbClr val="E8AE43"/>
          </a:solidFill>
          <a:ln>
            <a:solidFill>
              <a:srgbClr val="E8AE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48471" y="2615184"/>
            <a:ext cx="3063240" cy="219456"/>
          </a:xfrm>
          <a:prstGeom prst="rect">
            <a:avLst/>
          </a:prstGeom>
          <a:noFill/>
        </p:spPr>
        <p:txBody>
          <a:bodyPr wrap="square" lIns="54864" rIns="54864" tIns="36576" bIns="27432">
            <a:spAutoFit/>
          </a:bodyPr>
          <a:lstStyle/>
          <a:p>
            <a:pPr>
              <a:spcAft>
                <a:spcPts val="600"/>
              </a:spcAft>
              <a:defRPr sz="900" b="1">
                <a:solidFill>
                  <a:srgbClr val="657282"/>
                </a:solidFill>
                <a:latin typeface="Aptos"/>
              </a:defRPr>
            </a:pPr>
            <a:r>
              <a:t>PERIOD</a:t>
            </a:r>
          </a:p>
        </p:txBody>
      </p:sp>
      <p:sp>
        <p:nvSpPr>
          <p:cNvPr id="21" name="TextBox 20"/>
          <p:cNvSpPr txBox="1"/>
          <p:nvPr/>
        </p:nvSpPr>
        <p:spPr>
          <a:xfrm>
            <a:off x="8348471" y="2916936"/>
            <a:ext cx="3063240" cy="457200"/>
          </a:xfrm>
          <a:prstGeom prst="rect">
            <a:avLst/>
          </a:prstGeom>
          <a:noFill/>
        </p:spPr>
        <p:txBody>
          <a:bodyPr wrap="square" lIns="54864" rIns="54864" tIns="36576" bIns="27432">
            <a:spAutoFit/>
          </a:bodyPr>
          <a:lstStyle/>
          <a:p>
            <a:pPr>
              <a:spcAft>
                <a:spcPts val="600"/>
              </a:spcAft>
              <a:defRPr sz="2400" b="1">
                <a:solidFill>
                  <a:srgbClr val="13233D"/>
                </a:solidFill>
                <a:latin typeface="Aptos"/>
              </a:defRPr>
            </a:pPr>
            <a:r>
              <a:t>3 months</a:t>
            </a:r>
          </a:p>
        </p:txBody>
      </p:sp>
      <p:sp>
        <p:nvSpPr>
          <p:cNvPr id="22" name="TextBox 21"/>
          <p:cNvSpPr txBox="1"/>
          <p:nvPr/>
        </p:nvSpPr>
        <p:spPr>
          <a:xfrm>
            <a:off x="8348471" y="3474720"/>
            <a:ext cx="3063240" cy="201168"/>
          </a:xfrm>
          <a:prstGeom prst="rect">
            <a:avLst/>
          </a:prstGeom>
          <a:noFill/>
        </p:spPr>
        <p:txBody>
          <a:bodyPr wrap="square" lIns="54864" rIns="54864" tIns="36576" bIns="27432">
            <a:spAutoFit/>
          </a:bodyPr>
          <a:lstStyle/>
          <a:p>
            <a:pPr>
              <a:spcAft>
                <a:spcPts val="600"/>
              </a:spcAft>
              <a:defRPr sz="900" b="0">
                <a:solidFill>
                  <a:srgbClr val="657282"/>
                </a:solidFill>
                <a:latin typeface="Aptos"/>
              </a:defRPr>
            </a:pPr>
            <a:r>
              <a:t>1 Jan–31 Mar 2026</a:t>
            </a:r>
          </a:p>
        </p:txBody>
      </p:sp>
      <p:sp>
        <p:nvSpPr>
          <p:cNvPr id="23" name="TextBox 22"/>
          <p:cNvSpPr txBox="1"/>
          <p:nvPr/>
        </p:nvSpPr>
        <p:spPr>
          <a:xfrm>
            <a:off x="896112" y="4251960"/>
            <a:ext cx="10424160" cy="1508760"/>
          </a:xfrm>
          <a:prstGeom prst="rect">
            <a:avLst/>
          </a:prstGeom>
          <a:noFill/>
        </p:spPr>
        <p:txBody>
          <a:bodyPr wrap="square" lIns="45720" rIns="45720">
            <a:spAutoFit/>
          </a:bodyPr>
          <a:lstStyle/>
          <a:p>
            <a:pPr>
              <a:spcAft>
                <a:spcPts val="1200"/>
              </a:spcAft>
              <a:defRPr sz="1400">
                <a:solidFill>
                  <a:srgbClr val="2B3644"/>
                </a:solidFill>
                <a:latin typeface="Aptos"/>
              </a:defRPr>
            </a:pPr>
            <a:r>
              <a:t>Validate the data and headline KPIs.</a:t>
            </a:r>
          </a:p>
          <a:p>
            <a:pPr>
              <a:spcAft>
                <a:spcPts val="1200"/>
              </a:spcAft>
              <a:defRPr sz="1400">
                <a:solidFill>
                  <a:srgbClr val="2B3644"/>
                </a:solidFill>
                <a:latin typeface="Aptos"/>
              </a:defRPr>
            </a:pPr>
            <a:r>
              <a:t>Compare activity by status, month, segment, type and channel.</a:t>
            </a:r>
          </a:p>
          <a:p>
            <a:pPr>
              <a:spcAft>
                <a:spcPts val="1200"/>
              </a:spcAft>
              <a:defRPr sz="1400">
                <a:solidFill>
                  <a:srgbClr val="2B3644"/>
                </a:solidFill>
                <a:latin typeface="Aptos"/>
              </a:defRPr>
            </a:pPr>
            <a:r>
              <a:t>Translate the results into evidence-led recommendations.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640080" y="155448"/>
            <a:ext cx="10058400" cy="201168"/>
          </a:xfrm>
          <a:prstGeom prst="rect">
            <a:avLst/>
          </a:prstGeom>
          <a:noFill/>
        </p:spPr>
        <p:txBody>
          <a:bodyPr wrap="square" lIns="54864" rIns="54864" tIns="36576" bIns="27432">
            <a:spAutoFit/>
          </a:bodyPr>
          <a:lstStyle/>
          <a:p>
            <a:pPr>
              <a:spcAft>
                <a:spcPts val="600"/>
              </a:spcAft>
              <a:defRPr sz="900" b="1">
                <a:solidFill>
                  <a:srgbClr val="198F89"/>
                </a:solidFill>
                <a:latin typeface="Aptos"/>
              </a:defRPr>
            </a:pPr>
            <a:r>
              <a:t>02 • APPROACH &amp; TOOLS</a:t>
            </a:r>
          </a:p>
        </p:txBody>
      </p:sp>
      <p:sp>
        <p:nvSpPr>
          <p:cNvPr id="3" name="TextBox 2"/>
          <p:cNvSpPr txBox="1"/>
          <p:nvPr/>
        </p:nvSpPr>
        <p:spPr>
          <a:xfrm>
            <a:off x="621792" y="393192"/>
            <a:ext cx="10789920" cy="530352"/>
          </a:xfrm>
          <a:prstGeom prst="rect">
            <a:avLst/>
          </a:prstGeom>
          <a:noFill/>
        </p:spPr>
        <p:txBody>
          <a:bodyPr wrap="square" lIns="54864" rIns="54864" tIns="36576" bIns="27432">
            <a:spAutoFit/>
          </a:bodyPr>
          <a:lstStyle/>
          <a:p>
            <a:pPr>
              <a:spcAft>
                <a:spcPts val="600"/>
              </a:spcAft>
              <a:defRPr sz="2700" b="1">
                <a:solidFill>
                  <a:srgbClr val="13233D"/>
                </a:solidFill>
                <a:latin typeface="Aptos"/>
              </a:defRPr>
            </a:pPr>
            <a:r>
              <a:t>One consistent analytical workflow</a:t>
            </a:r>
          </a:p>
        </p:txBody>
      </p:sp>
      <p:sp>
        <p:nvSpPr>
          <p:cNvPr id="4" name="Rectangle 3"/>
          <p:cNvSpPr/>
          <p:nvPr/>
        </p:nvSpPr>
        <p:spPr>
          <a:xfrm>
            <a:off x="640080" y="987552"/>
            <a:ext cx="731520" cy="50292"/>
          </a:xfrm>
          <a:prstGeom prst="rect">
            <a:avLst/>
          </a:prstGeom>
          <a:solidFill>
            <a:srgbClr val="E8AE43"/>
          </a:solidFill>
          <a:ln>
            <a:solidFill>
              <a:srgbClr val="E8AE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92240"/>
            <a:ext cx="6400800" cy="164592"/>
          </a:xfrm>
          <a:prstGeom prst="rect">
            <a:avLst/>
          </a:prstGeom>
          <a:noFill/>
        </p:spPr>
        <p:txBody>
          <a:bodyPr wrap="square" lIns="54864" rIns="54864" tIns="36576" bIns="27432">
            <a:spAutoFit/>
          </a:bodyPr>
          <a:lstStyle/>
          <a:p>
            <a:pPr>
              <a:spcAft>
                <a:spcPts val="600"/>
              </a:spcAft>
              <a:defRPr sz="800" b="1">
                <a:solidFill>
                  <a:srgbClr val="657282"/>
                </a:solidFill>
                <a:latin typeface="Aptos"/>
              </a:defRPr>
            </a:pPr>
            <a:r>
              <a:t>ANALYSTLAB AFRICA  •  FINTRUST DATA ANALYTICS</a:t>
            </a:r>
          </a:p>
        </p:txBody>
      </p:sp>
      <p:sp>
        <p:nvSpPr>
          <p:cNvPr id="6" name="TextBox 5"/>
          <p:cNvSpPr txBox="1"/>
          <p:nvPr/>
        </p:nvSpPr>
        <p:spPr>
          <a:xfrm>
            <a:off x="11109960" y="6473952"/>
            <a:ext cx="457200" cy="182880"/>
          </a:xfrm>
          <a:prstGeom prst="rect">
            <a:avLst/>
          </a:prstGeom>
          <a:noFill/>
        </p:spPr>
        <p:txBody>
          <a:bodyPr wrap="square" lIns="54864" rIns="54864" tIns="36576" bIns="27432">
            <a:spAutoFit/>
          </a:bodyPr>
          <a:lstStyle/>
          <a:p>
            <a:pPr algn="r">
              <a:spcAft>
                <a:spcPts val="600"/>
              </a:spcAft>
              <a:defRPr sz="900" b="1">
                <a:solidFill>
                  <a:srgbClr val="657282"/>
                </a:solidFill>
                <a:latin typeface="Aptos"/>
              </a:defRPr>
            </a:pPr>
            <a:r>
              <a:t>03</a:t>
            </a:r>
          </a:p>
        </p:txBody>
      </p:sp>
      <p:sp>
        <p:nvSpPr>
          <p:cNvPr id="7" name="Rounded Rectangle 6"/>
          <p:cNvSpPr/>
          <p:nvPr/>
        </p:nvSpPr>
        <p:spPr>
          <a:xfrm>
            <a:off x="777240" y="1417320"/>
            <a:ext cx="3337560" cy="1325880"/>
          </a:xfrm>
          <a:prstGeom prst="roundRect">
            <a:avLst/>
          </a:prstGeom>
          <a:solidFill>
            <a:srgbClr val="FFFFFF"/>
          </a:solidFill>
          <a:ln>
            <a:solidFill>
              <a:srgbClr val="DD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417320"/>
            <a:ext cx="59436" cy="1325880"/>
          </a:xfrm>
          <a:prstGeom prst="rect">
            <a:avLst/>
          </a:prstGeom>
          <a:solidFill>
            <a:srgbClr val="2C64AB"/>
          </a:solidFill>
          <a:ln>
            <a:solidFill>
              <a:srgbClr val="2C64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545336"/>
            <a:ext cx="3063240" cy="219456"/>
          </a:xfrm>
          <a:prstGeom prst="rect">
            <a:avLst/>
          </a:prstGeom>
          <a:noFill/>
        </p:spPr>
        <p:txBody>
          <a:bodyPr wrap="square" lIns="54864" rIns="54864" tIns="36576" bIns="27432">
            <a:spAutoFit/>
          </a:bodyPr>
          <a:lstStyle/>
          <a:p>
            <a:pPr>
              <a:spcAft>
                <a:spcPts val="600"/>
              </a:spcAft>
              <a:defRPr sz="900" b="1">
                <a:solidFill>
                  <a:srgbClr val="657282"/>
                </a:solidFill>
                <a:latin typeface="Aptos"/>
              </a:defRPr>
            </a:pPr>
            <a:r>
              <a:t>SQL</a:t>
            </a:r>
          </a:p>
        </p:txBody>
      </p:sp>
      <p:sp>
        <p:nvSpPr>
          <p:cNvPr id="10" name="TextBox 9"/>
          <p:cNvSpPr txBox="1"/>
          <p:nvPr/>
        </p:nvSpPr>
        <p:spPr>
          <a:xfrm>
            <a:off x="941832" y="1847088"/>
            <a:ext cx="3063240" cy="457200"/>
          </a:xfrm>
          <a:prstGeom prst="rect">
            <a:avLst/>
          </a:prstGeom>
          <a:noFill/>
        </p:spPr>
        <p:txBody>
          <a:bodyPr wrap="square" lIns="54864" rIns="54864" tIns="36576" bIns="27432">
            <a:spAutoFit/>
          </a:bodyPr>
          <a:lstStyle/>
          <a:p>
            <a:pPr>
              <a:spcAft>
                <a:spcPts val="600"/>
              </a:spcAft>
              <a:defRPr sz="2400" b="1">
                <a:solidFill>
                  <a:srgbClr val="13233D"/>
                </a:solidFill>
                <a:latin typeface="Aptos"/>
              </a:defRPr>
            </a:pPr>
            <a:r>
              <a:t>Aggregate</a:t>
            </a:r>
          </a:p>
        </p:txBody>
      </p:sp>
      <p:sp>
        <p:nvSpPr>
          <p:cNvPr id="11" name="TextBox 10"/>
          <p:cNvSpPr txBox="1"/>
          <p:nvPr/>
        </p:nvSpPr>
        <p:spPr>
          <a:xfrm>
            <a:off x="941832" y="2404872"/>
            <a:ext cx="3063240" cy="201168"/>
          </a:xfrm>
          <a:prstGeom prst="rect">
            <a:avLst/>
          </a:prstGeom>
          <a:noFill/>
        </p:spPr>
        <p:txBody>
          <a:bodyPr wrap="square" lIns="54864" rIns="54864" tIns="36576" bIns="27432">
            <a:spAutoFit/>
          </a:bodyPr>
          <a:lstStyle/>
          <a:p>
            <a:pPr>
              <a:spcAft>
                <a:spcPts val="600"/>
              </a:spcAft>
              <a:defRPr sz="900" b="0">
                <a:solidFill>
                  <a:srgbClr val="657282"/>
                </a:solidFill>
                <a:latin typeface="Aptos"/>
              </a:defRPr>
            </a:pPr>
            <a:r>
              <a:t>Segment and validate</a:t>
            </a:r>
          </a:p>
        </p:txBody>
      </p:sp>
      <p:sp>
        <p:nvSpPr>
          <p:cNvPr id="12" name="Rounded Rectangle 11"/>
          <p:cNvSpPr/>
          <p:nvPr/>
        </p:nvSpPr>
        <p:spPr>
          <a:xfrm>
            <a:off x="4480559" y="1417320"/>
            <a:ext cx="3337560" cy="1325880"/>
          </a:xfrm>
          <a:prstGeom prst="roundRect">
            <a:avLst/>
          </a:prstGeom>
          <a:solidFill>
            <a:srgbClr val="FFFFFF"/>
          </a:solidFill>
          <a:ln>
            <a:solidFill>
              <a:srgbClr val="DD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59" y="1417320"/>
            <a:ext cx="59436" cy="1325880"/>
          </a:xfrm>
          <a:prstGeom prst="rect">
            <a:avLst/>
          </a:prstGeom>
          <a:solidFill>
            <a:srgbClr val="198F89"/>
          </a:solidFill>
          <a:ln>
            <a:solidFill>
              <a:srgbClr val="198F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45151" y="1545336"/>
            <a:ext cx="3063240" cy="219456"/>
          </a:xfrm>
          <a:prstGeom prst="rect">
            <a:avLst/>
          </a:prstGeom>
          <a:noFill/>
        </p:spPr>
        <p:txBody>
          <a:bodyPr wrap="square" lIns="54864" rIns="54864" tIns="36576" bIns="27432">
            <a:spAutoFit/>
          </a:bodyPr>
          <a:lstStyle/>
          <a:p>
            <a:pPr>
              <a:spcAft>
                <a:spcPts val="600"/>
              </a:spcAft>
              <a:defRPr sz="900" b="1">
                <a:solidFill>
                  <a:srgbClr val="657282"/>
                </a:solidFill>
                <a:latin typeface="Aptos"/>
              </a:defRPr>
            </a:pPr>
            <a:r>
              <a:t>PYTHON</a:t>
            </a:r>
          </a:p>
        </p:txBody>
      </p:sp>
      <p:sp>
        <p:nvSpPr>
          <p:cNvPr id="15" name="TextBox 14"/>
          <p:cNvSpPr txBox="1"/>
          <p:nvPr/>
        </p:nvSpPr>
        <p:spPr>
          <a:xfrm>
            <a:off x="4645151" y="1847088"/>
            <a:ext cx="3063240" cy="457200"/>
          </a:xfrm>
          <a:prstGeom prst="rect">
            <a:avLst/>
          </a:prstGeom>
          <a:noFill/>
        </p:spPr>
        <p:txBody>
          <a:bodyPr wrap="square" lIns="54864" rIns="54864" tIns="36576" bIns="27432">
            <a:spAutoFit/>
          </a:bodyPr>
          <a:lstStyle/>
          <a:p>
            <a:pPr>
              <a:spcAft>
                <a:spcPts val="600"/>
              </a:spcAft>
              <a:defRPr sz="2400" b="1">
                <a:solidFill>
                  <a:srgbClr val="13233D"/>
                </a:solidFill>
                <a:latin typeface="Aptos"/>
              </a:defRPr>
            </a:pPr>
            <a:r>
              <a:t>Explore</a:t>
            </a:r>
          </a:p>
        </p:txBody>
      </p:sp>
      <p:sp>
        <p:nvSpPr>
          <p:cNvPr id="16" name="TextBox 15"/>
          <p:cNvSpPr txBox="1"/>
          <p:nvPr/>
        </p:nvSpPr>
        <p:spPr>
          <a:xfrm>
            <a:off x="4645151" y="2404872"/>
            <a:ext cx="3063240" cy="201168"/>
          </a:xfrm>
          <a:prstGeom prst="rect">
            <a:avLst/>
          </a:prstGeom>
          <a:noFill/>
        </p:spPr>
        <p:txBody>
          <a:bodyPr wrap="square" lIns="54864" rIns="54864" tIns="36576" bIns="27432">
            <a:spAutoFit/>
          </a:bodyPr>
          <a:lstStyle/>
          <a:p>
            <a:pPr>
              <a:spcAft>
                <a:spcPts val="600"/>
              </a:spcAft>
              <a:defRPr sz="900" b="0">
                <a:solidFill>
                  <a:srgbClr val="657282"/>
                </a:solidFill>
                <a:latin typeface="Aptos"/>
              </a:defRPr>
            </a:pPr>
            <a:r>
              <a:t>Patterns and relationships</a:t>
            </a:r>
          </a:p>
        </p:txBody>
      </p:sp>
      <p:sp>
        <p:nvSpPr>
          <p:cNvPr id="17" name="Rounded Rectangle 16"/>
          <p:cNvSpPr/>
          <p:nvPr/>
        </p:nvSpPr>
        <p:spPr>
          <a:xfrm>
            <a:off x="8183879" y="1417320"/>
            <a:ext cx="3337560" cy="1325880"/>
          </a:xfrm>
          <a:prstGeom prst="roundRect">
            <a:avLst/>
          </a:prstGeom>
          <a:solidFill>
            <a:srgbClr val="FFFFFF"/>
          </a:solidFill>
          <a:ln>
            <a:solidFill>
              <a:srgbClr val="DD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83879" y="1417320"/>
            <a:ext cx="59436" cy="1325880"/>
          </a:xfrm>
          <a:prstGeom prst="rect">
            <a:avLst/>
          </a:prstGeom>
          <a:solidFill>
            <a:srgbClr val="E8AE43"/>
          </a:solidFill>
          <a:ln>
            <a:solidFill>
              <a:srgbClr val="E8AE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48471" y="1545336"/>
            <a:ext cx="3063240" cy="219456"/>
          </a:xfrm>
          <a:prstGeom prst="rect">
            <a:avLst/>
          </a:prstGeom>
          <a:noFill/>
        </p:spPr>
        <p:txBody>
          <a:bodyPr wrap="square" lIns="54864" rIns="54864" tIns="36576" bIns="27432">
            <a:spAutoFit/>
          </a:bodyPr>
          <a:lstStyle/>
          <a:p>
            <a:pPr>
              <a:spcAft>
                <a:spcPts val="600"/>
              </a:spcAft>
              <a:defRPr sz="900" b="1">
                <a:solidFill>
                  <a:srgbClr val="657282"/>
                </a:solidFill>
                <a:latin typeface="Aptos"/>
              </a:defRPr>
            </a:pPr>
            <a:r>
              <a:t>POWER BI</a:t>
            </a:r>
          </a:p>
        </p:txBody>
      </p:sp>
      <p:sp>
        <p:nvSpPr>
          <p:cNvPr id="20" name="TextBox 19"/>
          <p:cNvSpPr txBox="1"/>
          <p:nvPr/>
        </p:nvSpPr>
        <p:spPr>
          <a:xfrm>
            <a:off x="8348471" y="1847088"/>
            <a:ext cx="3063240" cy="457200"/>
          </a:xfrm>
          <a:prstGeom prst="rect">
            <a:avLst/>
          </a:prstGeom>
          <a:noFill/>
        </p:spPr>
        <p:txBody>
          <a:bodyPr wrap="square" lIns="54864" rIns="54864" tIns="36576" bIns="27432">
            <a:spAutoFit/>
          </a:bodyPr>
          <a:lstStyle/>
          <a:p>
            <a:pPr>
              <a:spcAft>
                <a:spcPts val="600"/>
              </a:spcAft>
              <a:defRPr sz="2400" b="1">
                <a:solidFill>
                  <a:srgbClr val="13233D"/>
                </a:solidFill>
                <a:latin typeface="Aptos"/>
              </a:defRPr>
            </a:pPr>
            <a:r>
              <a:t>Present</a:t>
            </a:r>
          </a:p>
        </p:txBody>
      </p:sp>
      <p:sp>
        <p:nvSpPr>
          <p:cNvPr id="21" name="TextBox 20"/>
          <p:cNvSpPr txBox="1"/>
          <p:nvPr/>
        </p:nvSpPr>
        <p:spPr>
          <a:xfrm>
            <a:off x="8348471" y="2404872"/>
            <a:ext cx="3063240" cy="201168"/>
          </a:xfrm>
          <a:prstGeom prst="rect">
            <a:avLst/>
          </a:prstGeom>
          <a:noFill/>
        </p:spPr>
        <p:txBody>
          <a:bodyPr wrap="square" lIns="54864" rIns="54864" tIns="36576" bIns="27432">
            <a:spAutoFit/>
          </a:bodyPr>
          <a:lstStyle/>
          <a:p>
            <a:pPr>
              <a:spcAft>
                <a:spcPts val="600"/>
              </a:spcAft>
              <a:defRPr sz="900" b="0">
                <a:solidFill>
                  <a:srgbClr val="657282"/>
                </a:solidFill>
                <a:latin typeface="Aptos"/>
              </a:defRPr>
            </a:pPr>
            <a:r>
              <a:t>KPIs and interactive views</a:t>
            </a:r>
          </a:p>
        </p:txBody>
      </p:sp>
      <p:sp>
        <p:nvSpPr>
          <p:cNvPr id="22" name="TextBox 21"/>
          <p:cNvSpPr txBox="1"/>
          <p:nvPr/>
        </p:nvSpPr>
        <p:spPr>
          <a:xfrm>
            <a:off x="896112" y="3246120"/>
            <a:ext cx="10424160" cy="2194560"/>
          </a:xfrm>
          <a:prstGeom prst="rect">
            <a:avLst/>
          </a:prstGeom>
          <a:noFill/>
        </p:spPr>
        <p:txBody>
          <a:bodyPr wrap="square" lIns="45720" rIns="45720">
            <a:spAutoFit/>
          </a:bodyPr>
          <a:lstStyle/>
          <a:p>
            <a:pPr>
              <a:spcAft>
                <a:spcPts val="1200"/>
              </a:spcAft>
              <a:defRPr sz="1400">
                <a:solidFill>
                  <a:srgbClr val="2B3644"/>
                </a:solidFill>
                <a:latin typeface="Aptos"/>
              </a:defRPr>
            </a:pPr>
            <a:r>
              <a:t>Documented KPI definitions and key findings.</a:t>
            </a:r>
          </a:p>
          <a:p>
            <a:pPr>
              <a:spcAft>
                <a:spcPts val="1200"/>
              </a:spcAft>
              <a:defRPr sz="1400">
                <a:solidFill>
                  <a:srgbClr val="2B3644"/>
                </a:solidFill>
                <a:latin typeface="Aptos"/>
              </a:defRPr>
            </a:pPr>
            <a:r>
              <a:t>Used each tool for a distinct purpose within one analytical workflow.</a:t>
            </a:r>
          </a:p>
          <a:p>
            <a:pPr>
              <a:spcAft>
                <a:spcPts val="1200"/>
              </a:spcAft>
              <a:defRPr sz="1400">
                <a:solidFill>
                  <a:srgbClr val="2B3644"/>
                </a:solidFill>
                <a:latin typeface="Aptos"/>
              </a:defRPr>
            </a:pPr>
            <a:r>
              <a:t>Kept business definitions consistent across calculations and reporting.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640080" y="155448"/>
            <a:ext cx="10058400" cy="201168"/>
          </a:xfrm>
          <a:prstGeom prst="rect">
            <a:avLst/>
          </a:prstGeom>
          <a:noFill/>
        </p:spPr>
        <p:txBody>
          <a:bodyPr wrap="square" lIns="54864" rIns="54864" tIns="36576" bIns="27432">
            <a:spAutoFit/>
          </a:bodyPr>
          <a:lstStyle/>
          <a:p>
            <a:pPr>
              <a:spcAft>
                <a:spcPts val="600"/>
              </a:spcAft>
              <a:defRPr sz="900" b="1">
                <a:solidFill>
                  <a:srgbClr val="198F89"/>
                </a:solidFill>
                <a:latin typeface="Aptos"/>
              </a:defRPr>
            </a:pPr>
            <a:r>
              <a:t>03 • DATA QUALITY</a:t>
            </a:r>
          </a:p>
        </p:txBody>
      </p:sp>
      <p:sp>
        <p:nvSpPr>
          <p:cNvPr id="3" name="TextBox 2"/>
          <p:cNvSpPr txBox="1"/>
          <p:nvPr/>
        </p:nvSpPr>
        <p:spPr>
          <a:xfrm>
            <a:off x="621792" y="393192"/>
            <a:ext cx="10789920" cy="530352"/>
          </a:xfrm>
          <a:prstGeom prst="rect">
            <a:avLst/>
          </a:prstGeom>
          <a:noFill/>
        </p:spPr>
        <p:txBody>
          <a:bodyPr wrap="square" lIns="54864" rIns="54864" tIns="36576" bIns="27432">
            <a:spAutoFit/>
          </a:bodyPr>
          <a:lstStyle/>
          <a:p>
            <a:pPr>
              <a:spcAft>
                <a:spcPts val="600"/>
              </a:spcAft>
              <a:defRPr sz="2700" b="1">
                <a:solidFill>
                  <a:srgbClr val="13233D"/>
                </a:solidFill>
                <a:latin typeface="Aptos"/>
              </a:defRPr>
            </a:pPr>
            <a:r>
              <a:t>Data quality: reliable foundations</a:t>
            </a:r>
          </a:p>
        </p:txBody>
      </p:sp>
      <p:sp>
        <p:nvSpPr>
          <p:cNvPr id="4" name="Rectangle 3"/>
          <p:cNvSpPr/>
          <p:nvPr/>
        </p:nvSpPr>
        <p:spPr>
          <a:xfrm>
            <a:off x="640080" y="987552"/>
            <a:ext cx="731520" cy="50292"/>
          </a:xfrm>
          <a:prstGeom prst="rect">
            <a:avLst/>
          </a:prstGeom>
          <a:solidFill>
            <a:srgbClr val="E8AE43"/>
          </a:solidFill>
          <a:ln>
            <a:solidFill>
              <a:srgbClr val="E8AE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92240"/>
            <a:ext cx="6400800" cy="164592"/>
          </a:xfrm>
          <a:prstGeom prst="rect">
            <a:avLst/>
          </a:prstGeom>
          <a:noFill/>
        </p:spPr>
        <p:txBody>
          <a:bodyPr wrap="square" lIns="54864" rIns="54864" tIns="36576" bIns="27432">
            <a:spAutoFit/>
          </a:bodyPr>
          <a:lstStyle/>
          <a:p>
            <a:pPr>
              <a:spcAft>
                <a:spcPts val="600"/>
              </a:spcAft>
              <a:defRPr sz="800" b="1">
                <a:solidFill>
                  <a:srgbClr val="657282"/>
                </a:solidFill>
                <a:latin typeface="Aptos"/>
              </a:defRPr>
            </a:pPr>
            <a:r>
              <a:t>ANALYSTLAB AFRICA  •  FINTRUST DATA ANALYTICS</a:t>
            </a:r>
          </a:p>
        </p:txBody>
      </p:sp>
      <p:sp>
        <p:nvSpPr>
          <p:cNvPr id="6" name="TextBox 5"/>
          <p:cNvSpPr txBox="1"/>
          <p:nvPr/>
        </p:nvSpPr>
        <p:spPr>
          <a:xfrm>
            <a:off x="11109960" y="6473952"/>
            <a:ext cx="457200" cy="182880"/>
          </a:xfrm>
          <a:prstGeom prst="rect">
            <a:avLst/>
          </a:prstGeom>
          <a:noFill/>
        </p:spPr>
        <p:txBody>
          <a:bodyPr wrap="square" lIns="54864" rIns="54864" tIns="36576" bIns="27432">
            <a:spAutoFit/>
          </a:bodyPr>
          <a:lstStyle/>
          <a:p>
            <a:pPr algn="r">
              <a:spcAft>
                <a:spcPts val="600"/>
              </a:spcAft>
              <a:defRPr sz="900" b="1">
                <a:solidFill>
                  <a:srgbClr val="657282"/>
                </a:solidFill>
                <a:latin typeface="Aptos"/>
              </a:defRPr>
            </a:pPr>
            <a:r>
              <a:t>04</a:t>
            </a:r>
          </a:p>
        </p:txBody>
      </p:sp>
      <p:sp>
        <p:nvSpPr>
          <p:cNvPr id="7" name="Rounded Rectangle 6"/>
          <p:cNvSpPr/>
          <p:nvPr/>
        </p:nvSpPr>
        <p:spPr>
          <a:xfrm>
            <a:off x="777240" y="1417320"/>
            <a:ext cx="3337560" cy="1325880"/>
          </a:xfrm>
          <a:prstGeom prst="roundRect">
            <a:avLst/>
          </a:prstGeom>
          <a:solidFill>
            <a:srgbClr val="FFFFFF"/>
          </a:solidFill>
          <a:ln>
            <a:solidFill>
              <a:srgbClr val="DD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417320"/>
            <a:ext cx="59436" cy="1325880"/>
          </a:xfrm>
          <a:prstGeom prst="rect">
            <a:avLst/>
          </a:prstGeom>
          <a:solidFill>
            <a:srgbClr val="198F89"/>
          </a:solidFill>
          <a:ln>
            <a:solidFill>
              <a:srgbClr val="198F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545336"/>
            <a:ext cx="3063240" cy="219456"/>
          </a:xfrm>
          <a:prstGeom prst="rect">
            <a:avLst/>
          </a:prstGeom>
          <a:noFill/>
        </p:spPr>
        <p:txBody>
          <a:bodyPr wrap="square" lIns="54864" rIns="54864" tIns="36576" bIns="27432">
            <a:spAutoFit/>
          </a:bodyPr>
          <a:lstStyle/>
          <a:p>
            <a:pPr>
              <a:spcAft>
                <a:spcPts val="600"/>
              </a:spcAft>
              <a:defRPr sz="900" b="1">
                <a:solidFill>
                  <a:srgbClr val="657282"/>
                </a:solidFill>
                <a:latin typeface="Aptos"/>
              </a:defRPr>
            </a:pPr>
            <a:r>
              <a:t>DUPLICATE TRANSACTION IDS</a:t>
            </a:r>
          </a:p>
        </p:txBody>
      </p:sp>
      <p:sp>
        <p:nvSpPr>
          <p:cNvPr id="10" name="TextBox 9"/>
          <p:cNvSpPr txBox="1"/>
          <p:nvPr/>
        </p:nvSpPr>
        <p:spPr>
          <a:xfrm>
            <a:off x="941832" y="1847088"/>
            <a:ext cx="3063240" cy="457200"/>
          </a:xfrm>
          <a:prstGeom prst="rect">
            <a:avLst/>
          </a:prstGeom>
          <a:noFill/>
        </p:spPr>
        <p:txBody>
          <a:bodyPr wrap="square" lIns="54864" rIns="54864" tIns="36576" bIns="27432">
            <a:spAutoFit/>
          </a:bodyPr>
          <a:lstStyle/>
          <a:p>
            <a:pPr>
              <a:spcAft>
                <a:spcPts val="600"/>
              </a:spcAft>
              <a:defRPr sz="2400" b="1">
                <a:solidFill>
                  <a:srgbClr val="13233D"/>
                </a:solidFill>
                <a:latin typeface="Aptos"/>
              </a:defRPr>
            </a:pPr>
            <a:r>
              <a:t>0</a:t>
            </a:r>
          </a:p>
        </p:txBody>
      </p:sp>
      <p:sp>
        <p:nvSpPr>
          <p:cNvPr id="11" name="TextBox 10"/>
          <p:cNvSpPr txBox="1"/>
          <p:nvPr/>
        </p:nvSpPr>
        <p:spPr>
          <a:xfrm>
            <a:off x="941832" y="2404872"/>
            <a:ext cx="3063240" cy="201168"/>
          </a:xfrm>
          <a:prstGeom prst="rect">
            <a:avLst/>
          </a:prstGeom>
          <a:noFill/>
        </p:spPr>
        <p:txBody>
          <a:bodyPr wrap="square" lIns="54864" rIns="54864" tIns="36576" bIns="27432">
            <a:spAutoFit/>
          </a:bodyPr>
          <a:lstStyle/>
          <a:p>
            <a:pPr>
              <a:spcAft>
                <a:spcPts val="600"/>
              </a:spcAft>
              <a:defRPr sz="900" b="0">
                <a:solidFill>
                  <a:srgbClr val="657282"/>
                </a:solidFill>
                <a:latin typeface="Aptos"/>
              </a:defRPr>
            </a:pPr>
            <a:r>
              <a:t>12,000 distinct IDs</a:t>
            </a:r>
          </a:p>
        </p:txBody>
      </p:sp>
      <p:sp>
        <p:nvSpPr>
          <p:cNvPr id="12" name="Rounded Rectangle 11"/>
          <p:cNvSpPr/>
          <p:nvPr/>
        </p:nvSpPr>
        <p:spPr>
          <a:xfrm>
            <a:off x="4480559" y="1417320"/>
            <a:ext cx="3337560" cy="1325880"/>
          </a:xfrm>
          <a:prstGeom prst="roundRect">
            <a:avLst/>
          </a:prstGeom>
          <a:solidFill>
            <a:srgbClr val="FFFFFF"/>
          </a:solidFill>
          <a:ln>
            <a:solidFill>
              <a:srgbClr val="DD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59" y="1417320"/>
            <a:ext cx="59436" cy="1325880"/>
          </a:xfrm>
          <a:prstGeom prst="rect">
            <a:avLst/>
          </a:prstGeom>
          <a:solidFill>
            <a:srgbClr val="2C64AB"/>
          </a:solidFill>
          <a:ln>
            <a:solidFill>
              <a:srgbClr val="2C64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45151" y="1545336"/>
            <a:ext cx="3063240" cy="219456"/>
          </a:xfrm>
          <a:prstGeom prst="rect">
            <a:avLst/>
          </a:prstGeom>
          <a:noFill/>
        </p:spPr>
        <p:txBody>
          <a:bodyPr wrap="square" lIns="54864" rIns="54864" tIns="36576" bIns="27432">
            <a:spAutoFit/>
          </a:bodyPr>
          <a:lstStyle/>
          <a:p>
            <a:pPr>
              <a:spcAft>
                <a:spcPts val="600"/>
              </a:spcAft>
              <a:defRPr sz="900" b="1">
                <a:solidFill>
                  <a:srgbClr val="657282"/>
                </a:solidFill>
                <a:latin typeface="Aptos"/>
              </a:defRPr>
            </a:pPr>
            <a:r>
              <a:t>ORPHAN TRANSACTIONS</a:t>
            </a:r>
          </a:p>
        </p:txBody>
      </p:sp>
      <p:sp>
        <p:nvSpPr>
          <p:cNvPr id="15" name="TextBox 14"/>
          <p:cNvSpPr txBox="1"/>
          <p:nvPr/>
        </p:nvSpPr>
        <p:spPr>
          <a:xfrm>
            <a:off x="4645151" y="1847088"/>
            <a:ext cx="3063240" cy="457200"/>
          </a:xfrm>
          <a:prstGeom prst="rect">
            <a:avLst/>
          </a:prstGeom>
          <a:noFill/>
        </p:spPr>
        <p:txBody>
          <a:bodyPr wrap="square" lIns="54864" rIns="54864" tIns="36576" bIns="27432">
            <a:spAutoFit/>
          </a:bodyPr>
          <a:lstStyle/>
          <a:p>
            <a:pPr>
              <a:spcAft>
                <a:spcPts val="600"/>
              </a:spcAft>
              <a:defRPr sz="2400" b="1">
                <a:solidFill>
                  <a:srgbClr val="13233D"/>
                </a:solidFill>
                <a:latin typeface="Aptos"/>
              </a:defRPr>
            </a:pPr>
            <a:r>
              <a:t>0</a:t>
            </a:r>
          </a:p>
        </p:txBody>
      </p:sp>
      <p:sp>
        <p:nvSpPr>
          <p:cNvPr id="16" name="TextBox 15"/>
          <p:cNvSpPr txBox="1"/>
          <p:nvPr/>
        </p:nvSpPr>
        <p:spPr>
          <a:xfrm>
            <a:off x="4645151" y="2404872"/>
            <a:ext cx="3063240" cy="201168"/>
          </a:xfrm>
          <a:prstGeom prst="rect">
            <a:avLst/>
          </a:prstGeom>
          <a:noFill/>
        </p:spPr>
        <p:txBody>
          <a:bodyPr wrap="square" lIns="54864" rIns="54864" tIns="36576" bIns="27432">
            <a:spAutoFit/>
          </a:bodyPr>
          <a:lstStyle/>
          <a:p>
            <a:pPr>
              <a:spcAft>
                <a:spcPts val="600"/>
              </a:spcAft>
              <a:defRPr sz="900" b="0">
                <a:solidFill>
                  <a:srgbClr val="657282"/>
                </a:solidFill>
                <a:latin typeface="Aptos"/>
              </a:defRPr>
            </a:pPr>
            <a:r>
              <a:t>all transaction links matched</a:t>
            </a:r>
          </a:p>
        </p:txBody>
      </p:sp>
      <p:sp>
        <p:nvSpPr>
          <p:cNvPr id="17" name="Rounded Rectangle 16"/>
          <p:cNvSpPr/>
          <p:nvPr/>
        </p:nvSpPr>
        <p:spPr>
          <a:xfrm>
            <a:off x="8183879" y="1417320"/>
            <a:ext cx="3337560" cy="1325880"/>
          </a:xfrm>
          <a:prstGeom prst="roundRect">
            <a:avLst/>
          </a:prstGeom>
          <a:solidFill>
            <a:srgbClr val="FFFFFF"/>
          </a:solidFill>
          <a:ln>
            <a:solidFill>
              <a:srgbClr val="DD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83879" y="1417320"/>
            <a:ext cx="59436" cy="1325880"/>
          </a:xfrm>
          <a:prstGeom prst="rect">
            <a:avLst/>
          </a:prstGeom>
          <a:solidFill>
            <a:srgbClr val="E8AE43"/>
          </a:solidFill>
          <a:ln>
            <a:solidFill>
              <a:srgbClr val="E8AE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48471" y="1545336"/>
            <a:ext cx="3063240" cy="219456"/>
          </a:xfrm>
          <a:prstGeom prst="rect">
            <a:avLst/>
          </a:prstGeom>
          <a:noFill/>
        </p:spPr>
        <p:txBody>
          <a:bodyPr wrap="square" lIns="54864" rIns="54864" tIns="36576" bIns="27432">
            <a:spAutoFit/>
          </a:bodyPr>
          <a:lstStyle/>
          <a:p>
            <a:pPr>
              <a:spcAft>
                <a:spcPts val="600"/>
              </a:spcAft>
              <a:defRPr sz="900" b="1">
                <a:solidFill>
                  <a:srgbClr val="657282"/>
                </a:solidFill>
                <a:latin typeface="Aptos"/>
              </a:defRPr>
            </a:pPr>
            <a:r>
              <a:t>CUSTOMERS WITHOUT ACTIVITY</a:t>
            </a:r>
          </a:p>
        </p:txBody>
      </p:sp>
      <p:sp>
        <p:nvSpPr>
          <p:cNvPr id="20" name="TextBox 19"/>
          <p:cNvSpPr txBox="1"/>
          <p:nvPr/>
        </p:nvSpPr>
        <p:spPr>
          <a:xfrm>
            <a:off x="8348471" y="1847088"/>
            <a:ext cx="3063240" cy="457200"/>
          </a:xfrm>
          <a:prstGeom prst="rect">
            <a:avLst/>
          </a:prstGeom>
          <a:noFill/>
        </p:spPr>
        <p:txBody>
          <a:bodyPr wrap="square" lIns="54864" rIns="54864" tIns="36576" bIns="27432">
            <a:spAutoFit/>
          </a:bodyPr>
          <a:lstStyle/>
          <a:p>
            <a:pPr>
              <a:spcAft>
                <a:spcPts val="600"/>
              </a:spcAft>
              <a:defRPr sz="2400" b="1">
                <a:solidFill>
                  <a:srgbClr val="13233D"/>
                </a:solidFill>
                <a:latin typeface="Aptos"/>
              </a:defRPr>
            </a:pPr>
            <a:r>
              <a:t>0</a:t>
            </a:r>
          </a:p>
        </p:txBody>
      </p:sp>
      <p:sp>
        <p:nvSpPr>
          <p:cNvPr id="21" name="TextBox 20"/>
          <p:cNvSpPr txBox="1"/>
          <p:nvPr/>
        </p:nvSpPr>
        <p:spPr>
          <a:xfrm>
            <a:off x="8348471" y="2404872"/>
            <a:ext cx="3063240" cy="201168"/>
          </a:xfrm>
          <a:prstGeom prst="rect">
            <a:avLst/>
          </a:prstGeom>
          <a:noFill/>
        </p:spPr>
        <p:txBody>
          <a:bodyPr wrap="square" lIns="54864" rIns="54864" tIns="36576" bIns="27432">
            <a:spAutoFit/>
          </a:bodyPr>
          <a:lstStyle/>
          <a:p>
            <a:pPr>
              <a:spcAft>
                <a:spcPts val="600"/>
              </a:spcAft>
              <a:defRPr sz="900" b="0">
                <a:solidFill>
                  <a:srgbClr val="657282"/>
                </a:solidFill>
                <a:latin typeface="Aptos"/>
              </a:defRPr>
            </a:pPr>
            <a:r>
              <a:t>all 1,500 had transactions</a:t>
            </a:r>
          </a:p>
        </p:txBody>
      </p:sp>
      <p:sp>
        <p:nvSpPr>
          <p:cNvPr id="22" name="TextBox 21"/>
          <p:cNvSpPr txBox="1"/>
          <p:nvPr/>
        </p:nvSpPr>
        <p:spPr>
          <a:xfrm>
            <a:off x="896112" y="3246120"/>
            <a:ext cx="10424160" cy="2194560"/>
          </a:xfrm>
          <a:prstGeom prst="rect">
            <a:avLst/>
          </a:prstGeom>
          <a:noFill/>
        </p:spPr>
        <p:txBody>
          <a:bodyPr wrap="square" lIns="45720" rIns="45720">
            <a:spAutoFit/>
          </a:bodyPr>
          <a:lstStyle/>
          <a:p>
            <a:pPr>
              <a:spcAft>
                <a:spcPts val="1200"/>
              </a:spcAft>
              <a:defRPr sz="1400">
                <a:solidFill>
                  <a:srgbClr val="2B3644"/>
                </a:solidFill>
                <a:latin typeface="Aptos"/>
              </a:defRPr>
            </a:pPr>
            <a:r>
              <a:t>96 missing Device_Type values and 96 missing Location values in raw data were labelled “Unknown” in cleaned data.</a:t>
            </a:r>
          </a:p>
          <a:p>
            <a:pPr>
              <a:spcAft>
                <a:spcPts val="1200"/>
              </a:spcAft>
              <a:defRPr sz="1400">
                <a:solidFill>
                  <a:srgbClr val="2B3644"/>
                </a:solidFill>
                <a:latin typeface="Aptos"/>
              </a:defRPr>
            </a:pPr>
            <a:r>
              <a:t>Checked null customer IDs, transaction uniqueness and customer relationships.</a:t>
            </a:r>
          </a:p>
          <a:p>
            <a:pPr>
              <a:spcAft>
                <a:spcPts val="1200"/>
              </a:spcAft>
              <a:defRPr sz="1400">
                <a:solidFill>
                  <a:srgbClr val="2B3644"/>
                </a:solidFill>
                <a:latin typeface="Aptos"/>
              </a:defRPr>
            </a:pPr>
            <a:r>
              <a:t>Risk_Review_Flag is a synthetic review indicator, not confirmed fraud.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640080" y="155448"/>
            <a:ext cx="10058400" cy="201168"/>
          </a:xfrm>
          <a:prstGeom prst="rect">
            <a:avLst/>
          </a:prstGeom>
          <a:noFill/>
        </p:spPr>
        <p:txBody>
          <a:bodyPr wrap="square" lIns="54864" rIns="54864" tIns="36576" bIns="27432">
            <a:spAutoFit/>
          </a:bodyPr>
          <a:lstStyle/>
          <a:p>
            <a:pPr>
              <a:spcAft>
                <a:spcPts val="600"/>
              </a:spcAft>
              <a:defRPr sz="900" b="1">
                <a:solidFill>
                  <a:srgbClr val="198F89"/>
                </a:solidFill>
                <a:latin typeface="Aptos"/>
              </a:defRPr>
            </a:pPr>
            <a:r>
              <a:t>04 • PERFORMANCE</a:t>
            </a:r>
          </a:p>
        </p:txBody>
      </p:sp>
      <p:sp>
        <p:nvSpPr>
          <p:cNvPr id="3" name="TextBox 2"/>
          <p:cNvSpPr txBox="1"/>
          <p:nvPr/>
        </p:nvSpPr>
        <p:spPr>
          <a:xfrm>
            <a:off x="621792" y="393192"/>
            <a:ext cx="10789920" cy="530352"/>
          </a:xfrm>
          <a:prstGeom prst="rect">
            <a:avLst/>
          </a:prstGeom>
          <a:noFill/>
        </p:spPr>
        <p:txBody>
          <a:bodyPr wrap="square" lIns="54864" rIns="54864" tIns="36576" bIns="27432">
            <a:spAutoFit/>
          </a:bodyPr>
          <a:lstStyle/>
          <a:p>
            <a:pPr>
              <a:spcAft>
                <a:spcPts val="600"/>
              </a:spcAft>
              <a:defRPr sz="2700" b="1">
                <a:solidFill>
                  <a:srgbClr val="13233D"/>
                </a:solidFill>
                <a:latin typeface="Aptos"/>
              </a:defRPr>
            </a:pPr>
            <a:r>
              <a:t>Headline KPIs</a:t>
            </a:r>
          </a:p>
        </p:txBody>
      </p:sp>
      <p:sp>
        <p:nvSpPr>
          <p:cNvPr id="4" name="Rectangle 3"/>
          <p:cNvSpPr/>
          <p:nvPr/>
        </p:nvSpPr>
        <p:spPr>
          <a:xfrm>
            <a:off x="640080" y="987552"/>
            <a:ext cx="731520" cy="50292"/>
          </a:xfrm>
          <a:prstGeom prst="rect">
            <a:avLst/>
          </a:prstGeom>
          <a:solidFill>
            <a:srgbClr val="E8AE43"/>
          </a:solidFill>
          <a:ln>
            <a:solidFill>
              <a:srgbClr val="E8AE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92240"/>
            <a:ext cx="6400800" cy="164592"/>
          </a:xfrm>
          <a:prstGeom prst="rect">
            <a:avLst/>
          </a:prstGeom>
          <a:noFill/>
        </p:spPr>
        <p:txBody>
          <a:bodyPr wrap="square" lIns="54864" rIns="54864" tIns="36576" bIns="27432">
            <a:spAutoFit/>
          </a:bodyPr>
          <a:lstStyle/>
          <a:p>
            <a:pPr>
              <a:spcAft>
                <a:spcPts val="600"/>
              </a:spcAft>
              <a:defRPr sz="800" b="1">
                <a:solidFill>
                  <a:srgbClr val="657282"/>
                </a:solidFill>
                <a:latin typeface="Aptos"/>
              </a:defRPr>
            </a:pPr>
            <a:r>
              <a:t>ANALYSTLAB AFRICA  •  FINTRUST DATA ANALYTICS</a:t>
            </a:r>
          </a:p>
        </p:txBody>
      </p:sp>
      <p:sp>
        <p:nvSpPr>
          <p:cNvPr id="6" name="TextBox 5"/>
          <p:cNvSpPr txBox="1"/>
          <p:nvPr/>
        </p:nvSpPr>
        <p:spPr>
          <a:xfrm>
            <a:off x="11109960" y="6473952"/>
            <a:ext cx="457200" cy="182880"/>
          </a:xfrm>
          <a:prstGeom prst="rect">
            <a:avLst/>
          </a:prstGeom>
          <a:noFill/>
        </p:spPr>
        <p:txBody>
          <a:bodyPr wrap="square" lIns="54864" rIns="54864" tIns="36576" bIns="27432">
            <a:spAutoFit/>
          </a:bodyPr>
          <a:lstStyle/>
          <a:p>
            <a:pPr algn="r">
              <a:spcAft>
                <a:spcPts val="600"/>
              </a:spcAft>
              <a:defRPr sz="900" b="1">
                <a:solidFill>
                  <a:srgbClr val="657282"/>
                </a:solidFill>
                <a:latin typeface="Aptos"/>
              </a:defRPr>
            </a:pPr>
            <a:r>
              <a:t>05</a:t>
            </a:r>
          </a:p>
        </p:txBody>
      </p:sp>
      <p:sp>
        <p:nvSpPr>
          <p:cNvPr id="7" name="Rounded Rectangle 6"/>
          <p:cNvSpPr/>
          <p:nvPr/>
        </p:nvSpPr>
        <p:spPr>
          <a:xfrm>
            <a:off x="777240" y="1417320"/>
            <a:ext cx="3337560" cy="1325880"/>
          </a:xfrm>
          <a:prstGeom prst="roundRect">
            <a:avLst/>
          </a:prstGeom>
          <a:solidFill>
            <a:srgbClr val="FFFFFF"/>
          </a:solidFill>
          <a:ln>
            <a:solidFill>
              <a:srgbClr val="DD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417320"/>
            <a:ext cx="59436" cy="1325880"/>
          </a:xfrm>
          <a:prstGeom prst="rect">
            <a:avLst/>
          </a:prstGeom>
          <a:solidFill>
            <a:srgbClr val="2C64AB"/>
          </a:solidFill>
          <a:ln>
            <a:solidFill>
              <a:srgbClr val="2C64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545336"/>
            <a:ext cx="3063240" cy="219456"/>
          </a:xfrm>
          <a:prstGeom prst="rect">
            <a:avLst/>
          </a:prstGeom>
          <a:noFill/>
        </p:spPr>
        <p:txBody>
          <a:bodyPr wrap="square" lIns="54864" rIns="54864" tIns="36576" bIns="27432">
            <a:spAutoFit/>
          </a:bodyPr>
          <a:lstStyle/>
          <a:p>
            <a:pPr>
              <a:spcAft>
                <a:spcPts val="600"/>
              </a:spcAft>
              <a:defRPr sz="900" b="1">
                <a:solidFill>
                  <a:srgbClr val="657282"/>
                </a:solidFill>
                <a:latin typeface="Aptos"/>
              </a:defRPr>
            </a:pPr>
            <a:r>
              <a:t>TOTAL TRANSACTION VALUE</a:t>
            </a:r>
          </a:p>
        </p:txBody>
      </p:sp>
      <p:sp>
        <p:nvSpPr>
          <p:cNvPr id="10" name="TextBox 9"/>
          <p:cNvSpPr txBox="1"/>
          <p:nvPr/>
        </p:nvSpPr>
        <p:spPr>
          <a:xfrm>
            <a:off x="941832" y="1847088"/>
            <a:ext cx="3063240" cy="457200"/>
          </a:xfrm>
          <a:prstGeom prst="rect">
            <a:avLst/>
          </a:prstGeom>
          <a:noFill/>
        </p:spPr>
        <p:txBody>
          <a:bodyPr wrap="square" lIns="54864" rIns="54864" tIns="36576" bIns="27432">
            <a:spAutoFit/>
          </a:bodyPr>
          <a:lstStyle/>
          <a:p>
            <a:pPr>
              <a:spcAft>
                <a:spcPts val="600"/>
              </a:spcAft>
              <a:defRPr sz="2400" b="1">
                <a:solidFill>
                  <a:srgbClr val="13233D"/>
                </a:solidFill>
                <a:latin typeface="Aptos"/>
              </a:defRPr>
            </a:pPr>
            <a:r>
              <a:t>₦560.48M</a:t>
            </a:r>
          </a:p>
        </p:txBody>
      </p:sp>
      <p:sp>
        <p:nvSpPr>
          <p:cNvPr id="11" name="TextBox 10"/>
          <p:cNvSpPr txBox="1"/>
          <p:nvPr/>
        </p:nvSpPr>
        <p:spPr>
          <a:xfrm>
            <a:off x="941832" y="2404872"/>
            <a:ext cx="3063240" cy="201168"/>
          </a:xfrm>
          <a:prstGeom prst="rect">
            <a:avLst/>
          </a:prstGeom>
          <a:noFill/>
        </p:spPr>
        <p:txBody>
          <a:bodyPr wrap="square" lIns="54864" rIns="54864" tIns="36576" bIns="27432">
            <a:spAutoFit/>
          </a:bodyPr>
          <a:lstStyle/>
          <a:p>
            <a:pPr>
              <a:spcAft>
                <a:spcPts val="600"/>
              </a:spcAft>
              <a:defRPr sz="900" b="0">
                <a:solidFill>
                  <a:srgbClr val="657282"/>
                </a:solidFill>
                <a:latin typeface="Aptos"/>
              </a:defRPr>
            </a:pPr>
            <a:r>
              <a:t>across 12,000 transactions</a:t>
            </a:r>
          </a:p>
        </p:txBody>
      </p:sp>
      <p:sp>
        <p:nvSpPr>
          <p:cNvPr id="12" name="Rounded Rectangle 11"/>
          <p:cNvSpPr/>
          <p:nvPr/>
        </p:nvSpPr>
        <p:spPr>
          <a:xfrm>
            <a:off x="4480559" y="1417320"/>
            <a:ext cx="3337560" cy="1325880"/>
          </a:xfrm>
          <a:prstGeom prst="roundRect">
            <a:avLst/>
          </a:prstGeom>
          <a:solidFill>
            <a:srgbClr val="FFFFFF"/>
          </a:solidFill>
          <a:ln>
            <a:solidFill>
              <a:srgbClr val="DD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59" y="1417320"/>
            <a:ext cx="59436" cy="1325880"/>
          </a:xfrm>
          <a:prstGeom prst="rect">
            <a:avLst/>
          </a:prstGeom>
          <a:solidFill>
            <a:srgbClr val="198F89"/>
          </a:solidFill>
          <a:ln>
            <a:solidFill>
              <a:srgbClr val="198F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45151" y="1545336"/>
            <a:ext cx="3063240" cy="219456"/>
          </a:xfrm>
          <a:prstGeom prst="rect">
            <a:avLst/>
          </a:prstGeom>
          <a:noFill/>
        </p:spPr>
        <p:txBody>
          <a:bodyPr wrap="square" lIns="54864" rIns="54864" tIns="36576" bIns="27432">
            <a:spAutoFit/>
          </a:bodyPr>
          <a:lstStyle/>
          <a:p>
            <a:pPr>
              <a:spcAft>
                <a:spcPts val="600"/>
              </a:spcAft>
              <a:defRPr sz="900" b="1">
                <a:solidFill>
                  <a:srgbClr val="657282"/>
                </a:solidFill>
                <a:latin typeface="Aptos"/>
              </a:defRPr>
            </a:pPr>
            <a:r>
              <a:t>AVERAGE TRANSACTION</a:t>
            </a:r>
          </a:p>
        </p:txBody>
      </p:sp>
      <p:sp>
        <p:nvSpPr>
          <p:cNvPr id="15" name="TextBox 14"/>
          <p:cNvSpPr txBox="1"/>
          <p:nvPr/>
        </p:nvSpPr>
        <p:spPr>
          <a:xfrm>
            <a:off x="4645151" y="1847088"/>
            <a:ext cx="3063240" cy="457200"/>
          </a:xfrm>
          <a:prstGeom prst="rect">
            <a:avLst/>
          </a:prstGeom>
          <a:noFill/>
        </p:spPr>
        <p:txBody>
          <a:bodyPr wrap="square" lIns="54864" rIns="54864" tIns="36576" bIns="27432">
            <a:spAutoFit/>
          </a:bodyPr>
          <a:lstStyle/>
          <a:p>
            <a:pPr>
              <a:spcAft>
                <a:spcPts val="600"/>
              </a:spcAft>
              <a:defRPr sz="2400" b="1">
                <a:solidFill>
                  <a:srgbClr val="13233D"/>
                </a:solidFill>
                <a:latin typeface="Aptos"/>
              </a:defRPr>
            </a:pPr>
            <a:r>
              <a:t>₦46,706.45</a:t>
            </a:r>
          </a:p>
        </p:txBody>
      </p:sp>
      <p:sp>
        <p:nvSpPr>
          <p:cNvPr id="16" name="TextBox 15"/>
          <p:cNvSpPr txBox="1"/>
          <p:nvPr/>
        </p:nvSpPr>
        <p:spPr>
          <a:xfrm>
            <a:off x="4645151" y="2404872"/>
            <a:ext cx="3063240" cy="201168"/>
          </a:xfrm>
          <a:prstGeom prst="rect">
            <a:avLst/>
          </a:prstGeom>
          <a:noFill/>
        </p:spPr>
        <p:txBody>
          <a:bodyPr wrap="square" lIns="54864" rIns="54864" tIns="36576" bIns="27432">
            <a:spAutoFit/>
          </a:bodyPr>
          <a:lstStyle/>
          <a:p>
            <a:pPr>
              <a:spcAft>
                <a:spcPts val="600"/>
              </a:spcAft>
              <a:defRPr sz="900" b="0">
                <a:solidFill>
                  <a:srgbClr val="657282"/>
                </a:solidFill>
                <a:latin typeface="Aptos"/>
              </a:defRPr>
            </a:pPr>
            <a:r>
              <a:t>total value ÷ count</a:t>
            </a:r>
          </a:p>
        </p:txBody>
      </p:sp>
      <p:sp>
        <p:nvSpPr>
          <p:cNvPr id="17" name="Rounded Rectangle 16"/>
          <p:cNvSpPr/>
          <p:nvPr/>
        </p:nvSpPr>
        <p:spPr>
          <a:xfrm>
            <a:off x="8183879" y="1417320"/>
            <a:ext cx="3337560" cy="1325880"/>
          </a:xfrm>
          <a:prstGeom prst="roundRect">
            <a:avLst/>
          </a:prstGeom>
          <a:solidFill>
            <a:srgbClr val="FFFFFF"/>
          </a:solidFill>
          <a:ln>
            <a:solidFill>
              <a:srgbClr val="DD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83879" y="1417320"/>
            <a:ext cx="59436" cy="1325880"/>
          </a:xfrm>
          <a:prstGeom prst="rect">
            <a:avLst/>
          </a:prstGeom>
          <a:solidFill>
            <a:srgbClr val="2D8563"/>
          </a:solidFill>
          <a:ln>
            <a:solidFill>
              <a:srgbClr val="2D8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48471" y="1545336"/>
            <a:ext cx="3063240" cy="219456"/>
          </a:xfrm>
          <a:prstGeom prst="rect">
            <a:avLst/>
          </a:prstGeom>
          <a:noFill/>
        </p:spPr>
        <p:txBody>
          <a:bodyPr wrap="square" lIns="54864" rIns="54864" tIns="36576" bIns="27432">
            <a:spAutoFit/>
          </a:bodyPr>
          <a:lstStyle/>
          <a:p>
            <a:pPr>
              <a:spcAft>
                <a:spcPts val="600"/>
              </a:spcAft>
              <a:defRPr sz="900" b="1">
                <a:solidFill>
                  <a:srgbClr val="657282"/>
                </a:solidFill>
                <a:latin typeface="Aptos"/>
              </a:defRPr>
            </a:pPr>
            <a:r>
              <a:t>SUCCESS RATE</a:t>
            </a:r>
          </a:p>
        </p:txBody>
      </p:sp>
      <p:sp>
        <p:nvSpPr>
          <p:cNvPr id="20" name="TextBox 19"/>
          <p:cNvSpPr txBox="1"/>
          <p:nvPr/>
        </p:nvSpPr>
        <p:spPr>
          <a:xfrm>
            <a:off x="8348471" y="1847088"/>
            <a:ext cx="3063240" cy="457200"/>
          </a:xfrm>
          <a:prstGeom prst="rect">
            <a:avLst/>
          </a:prstGeom>
          <a:noFill/>
        </p:spPr>
        <p:txBody>
          <a:bodyPr wrap="square" lIns="54864" rIns="54864" tIns="36576" bIns="27432">
            <a:spAutoFit/>
          </a:bodyPr>
          <a:lstStyle/>
          <a:p>
            <a:pPr>
              <a:spcAft>
                <a:spcPts val="600"/>
              </a:spcAft>
              <a:defRPr sz="2400" b="1">
                <a:solidFill>
                  <a:srgbClr val="13233D"/>
                </a:solidFill>
                <a:latin typeface="Aptos"/>
              </a:defRPr>
            </a:pPr>
            <a:r>
              <a:t>90.47%</a:t>
            </a:r>
          </a:p>
        </p:txBody>
      </p:sp>
      <p:sp>
        <p:nvSpPr>
          <p:cNvPr id="21" name="TextBox 20"/>
          <p:cNvSpPr txBox="1"/>
          <p:nvPr/>
        </p:nvSpPr>
        <p:spPr>
          <a:xfrm>
            <a:off x="8348471" y="2404872"/>
            <a:ext cx="3063240" cy="201168"/>
          </a:xfrm>
          <a:prstGeom prst="rect">
            <a:avLst/>
          </a:prstGeom>
          <a:noFill/>
        </p:spPr>
        <p:txBody>
          <a:bodyPr wrap="square" lIns="54864" rIns="54864" tIns="36576" bIns="27432">
            <a:spAutoFit/>
          </a:bodyPr>
          <a:lstStyle/>
          <a:p>
            <a:pPr>
              <a:spcAft>
                <a:spcPts val="600"/>
              </a:spcAft>
              <a:defRPr sz="900" b="0">
                <a:solidFill>
                  <a:srgbClr val="657282"/>
                </a:solidFill>
                <a:latin typeface="Aptos"/>
              </a:defRPr>
            </a:pPr>
            <a:r>
              <a:t>10,856 successful</a:t>
            </a:r>
          </a:p>
        </p:txBody>
      </p:sp>
      <p:sp>
        <p:nvSpPr>
          <p:cNvPr id="22" name="TextBox 21"/>
          <p:cNvSpPr txBox="1"/>
          <p:nvPr/>
        </p:nvSpPr>
        <p:spPr>
          <a:xfrm>
            <a:off x="896112" y="3246120"/>
            <a:ext cx="10424160" cy="2194560"/>
          </a:xfrm>
          <a:prstGeom prst="rect">
            <a:avLst/>
          </a:prstGeom>
          <a:noFill/>
        </p:spPr>
        <p:txBody>
          <a:bodyPr wrap="square" lIns="45720" rIns="45720">
            <a:spAutoFit/>
          </a:bodyPr>
          <a:lstStyle/>
          <a:p>
            <a:pPr>
              <a:spcAft>
                <a:spcPts val="1200"/>
              </a:spcAft>
              <a:defRPr sz="1400">
                <a:solidFill>
                  <a:srgbClr val="2B3644"/>
                </a:solidFill>
                <a:latin typeface="Aptos"/>
              </a:defRPr>
            </a:pPr>
            <a:r>
              <a:t>Review-flag rate: 19.60% (synthetic review indicator).</a:t>
            </a:r>
          </a:p>
          <a:p>
            <a:pPr>
              <a:spcAft>
                <a:spcPts val="1200"/>
              </a:spcAft>
              <a:defRPr sz="1400">
                <a:solidFill>
                  <a:srgbClr val="2B3644"/>
                </a:solidFill>
                <a:latin typeface="Aptos"/>
              </a:defRPr>
            </a:pPr>
            <a:r>
              <a:t>Unsuccessful outcomes: 1,144 failed, reversed and pending transactions.</a:t>
            </a:r>
          </a:p>
          <a:p>
            <a:pPr>
              <a:spcAft>
                <a:spcPts val="1200"/>
              </a:spcAft>
              <a:defRPr sz="1400">
                <a:solidFill>
                  <a:srgbClr val="2B3644"/>
                </a:solidFill>
                <a:latin typeface="Aptos"/>
              </a:defRPr>
            </a:pPr>
            <a:r>
              <a:t>Headline values checked against SQL aggregation results.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640080" y="155448"/>
            <a:ext cx="10058400" cy="201168"/>
          </a:xfrm>
          <a:prstGeom prst="rect">
            <a:avLst/>
          </a:prstGeom>
          <a:noFill/>
        </p:spPr>
        <p:txBody>
          <a:bodyPr wrap="square" lIns="54864" rIns="54864" tIns="36576" bIns="27432">
            <a:spAutoFit/>
          </a:bodyPr>
          <a:lstStyle/>
          <a:p>
            <a:pPr>
              <a:spcAft>
                <a:spcPts val="600"/>
              </a:spcAft>
              <a:defRPr sz="900" b="1">
                <a:solidFill>
                  <a:srgbClr val="198F89"/>
                </a:solidFill>
                <a:latin typeface="Aptos"/>
              </a:defRPr>
            </a:pPr>
            <a:r>
              <a:t>05 • PERFORMANCE PATTERNS</a:t>
            </a:r>
          </a:p>
        </p:txBody>
      </p:sp>
      <p:sp>
        <p:nvSpPr>
          <p:cNvPr id="3" name="TextBox 2"/>
          <p:cNvSpPr txBox="1"/>
          <p:nvPr/>
        </p:nvSpPr>
        <p:spPr>
          <a:xfrm>
            <a:off x="621792" y="393192"/>
            <a:ext cx="10789920" cy="530352"/>
          </a:xfrm>
          <a:prstGeom prst="rect">
            <a:avLst/>
          </a:prstGeom>
          <a:noFill/>
        </p:spPr>
        <p:txBody>
          <a:bodyPr wrap="square" lIns="54864" rIns="54864" tIns="36576" bIns="27432">
            <a:spAutoFit/>
          </a:bodyPr>
          <a:lstStyle/>
          <a:p>
            <a:pPr>
              <a:spcAft>
                <a:spcPts val="600"/>
              </a:spcAft>
              <a:defRPr sz="2700" b="1">
                <a:solidFill>
                  <a:srgbClr val="13233D"/>
                </a:solidFill>
                <a:latin typeface="Aptos"/>
              </a:defRPr>
            </a:pPr>
            <a:r>
              <a:t>Service performance over time</a:t>
            </a:r>
          </a:p>
        </p:txBody>
      </p:sp>
      <p:sp>
        <p:nvSpPr>
          <p:cNvPr id="4" name="Rectangle 3"/>
          <p:cNvSpPr/>
          <p:nvPr/>
        </p:nvSpPr>
        <p:spPr>
          <a:xfrm>
            <a:off x="640080" y="987552"/>
            <a:ext cx="731520" cy="50292"/>
          </a:xfrm>
          <a:prstGeom prst="rect">
            <a:avLst/>
          </a:prstGeom>
          <a:solidFill>
            <a:srgbClr val="E8AE43"/>
          </a:solidFill>
          <a:ln>
            <a:solidFill>
              <a:srgbClr val="E8AE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92240"/>
            <a:ext cx="6400800" cy="164592"/>
          </a:xfrm>
          <a:prstGeom prst="rect">
            <a:avLst/>
          </a:prstGeom>
          <a:noFill/>
        </p:spPr>
        <p:txBody>
          <a:bodyPr wrap="square" lIns="54864" rIns="54864" tIns="36576" bIns="27432">
            <a:spAutoFit/>
          </a:bodyPr>
          <a:lstStyle/>
          <a:p>
            <a:pPr>
              <a:spcAft>
                <a:spcPts val="600"/>
              </a:spcAft>
              <a:defRPr sz="800" b="1">
                <a:solidFill>
                  <a:srgbClr val="657282"/>
                </a:solidFill>
                <a:latin typeface="Aptos"/>
              </a:defRPr>
            </a:pPr>
            <a:r>
              <a:t>ANALYSTLAB AFRICA  •  FINTRUST DATA ANALYTICS</a:t>
            </a:r>
          </a:p>
        </p:txBody>
      </p:sp>
      <p:sp>
        <p:nvSpPr>
          <p:cNvPr id="6" name="TextBox 5"/>
          <p:cNvSpPr txBox="1"/>
          <p:nvPr/>
        </p:nvSpPr>
        <p:spPr>
          <a:xfrm>
            <a:off x="11109960" y="6473952"/>
            <a:ext cx="457200" cy="182880"/>
          </a:xfrm>
          <a:prstGeom prst="rect">
            <a:avLst/>
          </a:prstGeom>
          <a:noFill/>
        </p:spPr>
        <p:txBody>
          <a:bodyPr wrap="square" lIns="54864" rIns="54864" tIns="36576" bIns="27432">
            <a:spAutoFit/>
          </a:bodyPr>
          <a:lstStyle/>
          <a:p>
            <a:pPr algn="r">
              <a:spcAft>
                <a:spcPts val="600"/>
              </a:spcAft>
              <a:defRPr sz="900" b="1">
                <a:solidFill>
                  <a:srgbClr val="657282"/>
                </a:solidFill>
                <a:latin typeface="Aptos"/>
              </a:defRPr>
            </a:pPr>
            <a:r>
              <a:t>06</a:t>
            </a:r>
          </a:p>
        </p:txBody>
      </p:sp>
      <p:sp>
        <p:nvSpPr>
          <p:cNvPr id="7" name="Rounded Rectangle 6"/>
          <p:cNvSpPr/>
          <p:nvPr/>
        </p:nvSpPr>
        <p:spPr>
          <a:xfrm>
            <a:off x="777240" y="1417320"/>
            <a:ext cx="3337560" cy="1325880"/>
          </a:xfrm>
          <a:prstGeom prst="roundRect">
            <a:avLst/>
          </a:prstGeom>
          <a:solidFill>
            <a:srgbClr val="FFFFFF"/>
          </a:solidFill>
          <a:ln>
            <a:solidFill>
              <a:srgbClr val="DD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417320"/>
            <a:ext cx="59436" cy="1325880"/>
          </a:xfrm>
          <a:prstGeom prst="rect">
            <a:avLst/>
          </a:prstGeom>
          <a:solidFill>
            <a:srgbClr val="2D8563"/>
          </a:solidFill>
          <a:ln>
            <a:solidFill>
              <a:srgbClr val="2D8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545336"/>
            <a:ext cx="3063240" cy="219456"/>
          </a:xfrm>
          <a:prstGeom prst="rect">
            <a:avLst/>
          </a:prstGeom>
          <a:noFill/>
        </p:spPr>
        <p:txBody>
          <a:bodyPr wrap="square" lIns="54864" rIns="54864" tIns="36576" bIns="27432">
            <a:spAutoFit/>
          </a:bodyPr>
          <a:lstStyle/>
          <a:p>
            <a:pPr>
              <a:spcAft>
                <a:spcPts val="600"/>
              </a:spcAft>
              <a:defRPr sz="900" b="1">
                <a:solidFill>
                  <a:srgbClr val="657282"/>
                </a:solidFill>
                <a:latin typeface="Aptos"/>
              </a:defRPr>
            </a:pPr>
            <a:r>
              <a:t>SUCCESSFUL</a:t>
            </a:r>
          </a:p>
        </p:txBody>
      </p:sp>
      <p:sp>
        <p:nvSpPr>
          <p:cNvPr id="10" name="TextBox 9"/>
          <p:cNvSpPr txBox="1"/>
          <p:nvPr/>
        </p:nvSpPr>
        <p:spPr>
          <a:xfrm>
            <a:off x="941832" y="1847088"/>
            <a:ext cx="3063240" cy="457200"/>
          </a:xfrm>
          <a:prstGeom prst="rect">
            <a:avLst/>
          </a:prstGeom>
          <a:noFill/>
        </p:spPr>
        <p:txBody>
          <a:bodyPr wrap="square" lIns="54864" rIns="54864" tIns="36576" bIns="27432">
            <a:spAutoFit/>
          </a:bodyPr>
          <a:lstStyle/>
          <a:p>
            <a:pPr>
              <a:spcAft>
                <a:spcPts val="600"/>
              </a:spcAft>
              <a:defRPr sz="2200" b="1">
                <a:solidFill>
                  <a:srgbClr val="13233D"/>
                </a:solidFill>
                <a:latin typeface="Aptos"/>
              </a:defRPr>
            </a:pPr>
            <a:r>
              <a:t>10,856 | 90.47%</a:t>
            </a:r>
          </a:p>
        </p:txBody>
      </p:sp>
      <p:sp>
        <p:nvSpPr>
          <p:cNvPr id="11" name="TextBox 10"/>
          <p:cNvSpPr txBox="1"/>
          <p:nvPr/>
        </p:nvSpPr>
        <p:spPr>
          <a:xfrm>
            <a:off x="941832" y="2404872"/>
            <a:ext cx="3063240" cy="201168"/>
          </a:xfrm>
          <a:prstGeom prst="rect">
            <a:avLst/>
          </a:prstGeom>
          <a:noFill/>
        </p:spPr>
        <p:txBody>
          <a:bodyPr wrap="square" lIns="54864" rIns="54864" tIns="36576" bIns="27432">
            <a:spAutoFit/>
          </a:bodyPr>
          <a:lstStyle/>
          <a:p>
            <a:pPr>
              <a:spcAft>
                <a:spcPts val="600"/>
              </a:spcAft>
              <a:defRPr sz="900" b="0">
                <a:solidFill>
                  <a:srgbClr val="657282"/>
                </a:solidFill>
                <a:latin typeface="Aptos"/>
              </a:defRPr>
            </a:pPr>
          </a:p>
        </p:txBody>
      </p:sp>
      <p:sp>
        <p:nvSpPr>
          <p:cNvPr id="12" name="Rounded Rectangle 11"/>
          <p:cNvSpPr/>
          <p:nvPr/>
        </p:nvSpPr>
        <p:spPr>
          <a:xfrm>
            <a:off x="4480559" y="1417320"/>
            <a:ext cx="3337560" cy="1325880"/>
          </a:xfrm>
          <a:prstGeom prst="roundRect">
            <a:avLst/>
          </a:prstGeom>
          <a:solidFill>
            <a:srgbClr val="FFFFFF"/>
          </a:solidFill>
          <a:ln>
            <a:solidFill>
              <a:srgbClr val="DD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59" y="1417320"/>
            <a:ext cx="59436" cy="1325880"/>
          </a:xfrm>
          <a:prstGeom prst="rect">
            <a:avLst/>
          </a:prstGeom>
          <a:solidFill>
            <a:srgbClr val="B14344"/>
          </a:solidFill>
          <a:ln>
            <a:solidFill>
              <a:srgbClr val="B14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45151" y="1545336"/>
            <a:ext cx="3063240" cy="219456"/>
          </a:xfrm>
          <a:prstGeom prst="rect">
            <a:avLst/>
          </a:prstGeom>
          <a:noFill/>
        </p:spPr>
        <p:txBody>
          <a:bodyPr wrap="square" lIns="54864" rIns="54864" tIns="36576" bIns="27432">
            <a:spAutoFit/>
          </a:bodyPr>
          <a:lstStyle/>
          <a:p>
            <a:pPr>
              <a:spcAft>
                <a:spcPts val="600"/>
              </a:spcAft>
              <a:defRPr sz="900" b="1">
                <a:solidFill>
                  <a:srgbClr val="657282"/>
                </a:solidFill>
                <a:latin typeface="Aptos"/>
              </a:defRPr>
            </a:pPr>
            <a:r>
              <a:t>FAILED</a:t>
            </a:r>
          </a:p>
        </p:txBody>
      </p:sp>
      <p:sp>
        <p:nvSpPr>
          <p:cNvPr id="15" name="TextBox 14"/>
          <p:cNvSpPr txBox="1"/>
          <p:nvPr/>
        </p:nvSpPr>
        <p:spPr>
          <a:xfrm>
            <a:off x="4645151" y="1847088"/>
            <a:ext cx="3063240" cy="457200"/>
          </a:xfrm>
          <a:prstGeom prst="rect">
            <a:avLst/>
          </a:prstGeom>
          <a:noFill/>
        </p:spPr>
        <p:txBody>
          <a:bodyPr wrap="square" lIns="54864" rIns="54864" tIns="36576" bIns="27432">
            <a:spAutoFit/>
          </a:bodyPr>
          <a:lstStyle/>
          <a:p>
            <a:pPr>
              <a:spcAft>
                <a:spcPts val="600"/>
              </a:spcAft>
              <a:defRPr sz="2400" b="1">
                <a:solidFill>
                  <a:srgbClr val="13233D"/>
                </a:solidFill>
                <a:latin typeface="Aptos"/>
              </a:defRPr>
            </a:pPr>
            <a:r>
              <a:t>630 | 5.25%</a:t>
            </a:r>
          </a:p>
        </p:txBody>
      </p:sp>
      <p:sp>
        <p:nvSpPr>
          <p:cNvPr id="16" name="TextBox 15"/>
          <p:cNvSpPr txBox="1"/>
          <p:nvPr/>
        </p:nvSpPr>
        <p:spPr>
          <a:xfrm>
            <a:off x="4645151" y="2404872"/>
            <a:ext cx="3063240" cy="201168"/>
          </a:xfrm>
          <a:prstGeom prst="rect">
            <a:avLst/>
          </a:prstGeom>
          <a:noFill/>
        </p:spPr>
        <p:txBody>
          <a:bodyPr wrap="square" lIns="54864" rIns="54864" tIns="36576" bIns="27432">
            <a:spAutoFit/>
          </a:bodyPr>
          <a:lstStyle/>
          <a:p>
            <a:pPr>
              <a:spcAft>
                <a:spcPts val="600"/>
              </a:spcAft>
              <a:defRPr sz="900" b="0">
                <a:solidFill>
                  <a:srgbClr val="657282"/>
                </a:solidFill>
                <a:latin typeface="Aptos"/>
              </a:defRPr>
            </a:pPr>
          </a:p>
        </p:txBody>
      </p:sp>
      <p:sp>
        <p:nvSpPr>
          <p:cNvPr id="17" name="Rounded Rectangle 16"/>
          <p:cNvSpPr/>
          <p:nvPr/>
        </p:nvSpPr>
        <p:spPr>
          <a:xfrm>
            <a:off x="8183879" y="1417320"/>
            <a:ext cx="3337560" cy="1325880"/>
          </a:xfrm>
          <a:prstGeom prst="roundRect">
            <a:avLst/>
          </a:prstGeom>
          <a:solidFill>
            <a:srgbClr val="FFFFFF"/>
          </a:solidFill>
          <a:ln>
            <a:solidFill>
              <a:srgbClr val="DD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83879" y="1417320"/>
            <a:ext cx="59436" cy="1325880"/>
          </a:xfrm>
          <a:prstGeom prst="rect">
            <a:avLst/>
          </a:prstGeom>
          <a:solidFill>
            <a:srgbClr val="E8AE43"/>
          </a:solidFill>
          <a:ln>
            <a:solidFill>
              <a:srgbClr val="E8AE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48471" y="1545336"/>
            <a:ext cx="3063240" cy="219456"/>
          </a:xfrm>
          <a:prstGeom prst="rect">
            <a:avLst/>
          </a:prstGeom>
          <a:noFill/>
        </p:spPr>
        <p:txBody>
          <a:bodyPr wrap="square" lIns="54864" rIns="54864" tIns="36576" bIns="27432">
            <a:spAutoFit/>
          </a:bodyPr>
          <a:lstStyle/>
          <a:p>
            <a:pPr>
              <a:spcAft>
                <a:spcPts val="600"/>
              </a:spcAft>
              <a:defRPr sz="900" b="1">
                <a:solidFill>
                  <a:srgbClr val="657282"/>
                </a:solidFill>
                <a:latin typeface="Aptos"/>
              </a:defRPr>
            </a:pPr>
            <a:r>
              <a:t>REVERSED</a:t>
            </a:r>
          </a:p>
        </p:txBody>
      </p:sp>
      <p:sp>
        <p:nvSpPr>
          <p:cNvPr id="20" name="TextBox 19"/>
          <p:cNvSpPr txBox="1"/>
          <p:nvPr/>
        </p:nvSpPr>
        <p:spPr>
          <a:xfrm>
            <a:off x="8348471" y="1847088"/>
            <a:ext cx="3063240" cy="457200"/>
          </a:xfrm>
          <a:prstGeom prst="rect">
            <a:avLst/>
          </a:prstGeom>
          <a:noFill/>
        </p:spPr>
        <p:txBody>
          <a:bodyPr wrap="square" lIns="54864" rIns="54864" tIns="36576" bIns="27432">
            <a:spAutoFit/>
          </a:bodyPr>
          <a:lstStyle/>
          <a:p>
            <a:pPr>
              <a:spcAft>
                <a:spcPts val="600"/>
              </a:spcAft>
              <a:defRPr sz="2400" b="1">
                <a:solidFill>
                  <a:srgbClr val="13233D"/>
                </a:solidFill>
                <a:latin typeface="Aptos"/>
              </a:defRPr>
            </a:pPr>
            <a:r>
              <a:t>326 | 2.72%</a:t>
            </a:r>
          </a:p>
        </p:txBody>
      </p:sp>
      <p:sp>
        <p:nvSpPr>
          <p:cNvPr id="21" name="TextBox 20"/>
          <p:cNvSpPr txBox="1"/>
          <p:nvPr/>
        </p:nvSpPr>
        <p:spPr>
          <a:xfrm>
            <a:off x="8348471" y="2404872"/>
            <a:ext cx="3063240" cy="201168"/>
          </a:xfrm>
          <a:prstGeom prst="rect">
            <a:avLst/>
          </a:prstGeom>
          <a:noFill/>
        </p:spPr>
        <p:txBody>
          <a:bodyPr wrap="square" lIns="54864" rIns="54864" tIns="36576" bIns="27432">
            <a:spAutoFit/>
          </a:bodyPr>
          <a:lstStyle/>
          <a:p>
            <a:pPr>
              <a:spcAft>
                <a:spcPts val="600"/>
              </a:spcAft>
              <a:defRPr sz="900" b="0">
                <a:solidFill>
                  <a:srgbClr val="657282"/>
                </a:solidFill>
                <a:latin typeface="Aptos"/>
              </a:defRPr>
            </a:pPr>
          </a:p>
        </p:txBody>
      </p:sp>
      <p:sp>
        <p:nvSpPr>
          <p:cNvPr id="22" name="TextBox 21"/>
          <p:cNvSpPr txBox="1"/>
          <p:nvPr/>
        </p:nvSpPr>
        <p:spPr>
          <a:xfrm>
            <a:off x="896112" y="3246120"/>
            <a:ext cx="10424160" cy="2194560"/>
          </a:xfrm>
          <a:prstGeom prst="rect">
            <a:avLst/>
          </a:prstGeom>
          <a:noFill/>
        </p:spPr>
        <p:txBody>
          <a:bodyPr wrap="square" lIns="45720" rIns="45720">
            <a:spAutoFit/>
          </a:bodyPr>
          <a:lstStyle/>
          <a:p>
            <a:pPr>
              <a:spcAft>
                <a:spcPts val="1200"/>
              </a:spcAft>
              <a:defRPr sz="1400">
                <a:solidFill>
                  <a:srgbClr val="2B3644"/>
                </a:solidFill>
                <a:latin typeface="Aptos"/>
              </a:defRPr>
            </a:pPr>
            <a:r>
              <a:t>Monthly volume: January 4,133; February 3,734; March 4,133.</a:t>
            </a:r>
          </a:p>
          <a:p>
            <a:pPr>
              <a:spcAft>
                <a:spcPts val="1200"/>
              </a:spcAft>
              <a:defRPr sz="1400">
                <a:solidFill>
                  <a:srgbClr val="2B3644"/>
                </a:solidFill>
                <a:latin typeface="Aptos"/>
              </a:defRPr>
            </a:pPr>
            <a:r>
              <a:t>Monthly value: January ₦188.49M; February ₦175.79M; March ₦196.20M.</a:t>
            </a:r>
          </a:p>
          <a:p>
            <a:pPr>
              <a:spcAft>
                <a:spcPts val="1200"/>
              </a:spcAft>
              <a:defRPr sz="1400">
                <a:solidFill>
                  <a:srgbClr val="2B3644"/>
                </a:solidFill>
                <a:latin typeface="Aptos"/>
              </a:defRPr>
            </a:pPr>
            <a:r>
              <a:t>Pending transactions: 188 (1.57%).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640080" y="155448"/>
            <a:ext cx="10058400" cy="201168"/>
          </a:xfrm>
          <a:prstGeom prst="rect">
            <a:avLst/>
          </a:prstGeom>
          <a:noFill/>
        </p:spPr>
        <p:txBody>
          <a:bodyPr wrap="square" lIns="54864" rIns="54864" tIns="36576" bIns="27432">
            <a:spAutoFit/>
          </a:bodyPr>
          <a:lstStyle/>
          <a:p>
            <a:pPr>
              <a:spcAft>
                <a:spcPts val="600"/>
              </a:spcAft>
              <a:defRPr sz="900" b="1">
                <a:solidFill>
                  <a:srgbClr val="198F89"/>
                </a:solidFill>
                <a:latin typeface="Aptos"/>
              </a:defRPr>
            </a:pPr>
            <a:r>
              <a:t>06 • BUSINESS INSIGHTS</a:t>
            </a:r>
          </a:p>
        </p:txBody>
      </p:sp>
      <p:sp>
        <p:nvSpPr>
          <p:cNvPr id="3" name="TextBox 2"/>
          <p:cNvSpPr txBox="1"/>
          <p:nvPr/>
        </p:nvSpPr>
        <p:spPr>
          <a:xfrm>
            <a:off x="621792" y="393192"/>
            <a:ext cx="10789920" cy="530352"/>
          </a:xfrm>
          <a:prstGeom prst="rect">
            <a:avLst/>
          </a:prstGeom>
          <a:noFill/>
        </p:spPr>
        <p:txBody>
          <a:bodyPr wrap="square" lIns="54864" rIns="54864" tIns="36576" bIns="27432">
            <a:spAutoFit/>
          </a:bodyPr>
          <a:lstStyle/>
          <a:p>
            <a:pPr>
              <a:spcAft>
                <a:spcPts val="600"/>
              </a:spcAft>
              <a:defRPr sz="2700" b="1">
                <a:solidFill>
                  <a:srgbClr val="13233D"/>
                </a:solidFill>
                <a:latin typeface="Aptos"/>
              </a:defRPr>
            </a:pPr>
            <a:r>
              <a:t>Customer activity and transaction value</a:t>
            </a:r>
          </a:p>
        </p:txBody>
      </p:sp>
      <p:sp>
        <p:nvSpPr>
          <p:cNvPr id="4" name="Rectangle 3"/>
          <p:cNvSpPr/>
          <p:nvPr/>
        </p:nvSpPr>
        <p:spPr>
          <a:xfrm>
            <a:off x="640080" y="987552"/>
            <a:ext cx="731520" cy="50292"/>
          </a:xfrm>
          <a:prstGeom prst="rect">
            <a:avLst/>
          </a:prstGeom>
          <a:solidFill>
            <a:srgbClr val="E8AE43"/>
          </a:solidFill>
          <a:ln>
            <a:solidFill>
              <a:srgbClr val="E8AE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92240"/>
            <a:ext cx="6400800" cy="164592"/>
          </a:xfrm>
          <a:prstGeom prst="rect">
            <a:avLst/>
          </a:prstGeom>
          <a:noFill/>
        </p:spPr>
        <p:txBody>
          <a:bodyPr wrap="square" lIns="54864" rIns="54864" tIns="36576" bIns="27432">
            <a:spAutoFit/>
          </a:bodyPr>
          <a:lstStyle/>
          <a:p>
            <a:pPr>
              <a:spcAft>
                <a:spcPts val="600"/>
              </a:spcAft>
              <a:defRPr sz="800" b="1">
                <a:solidFill>
                  <a:srgbClr val="657282"/>
                </a:solidFill>
                <a:latin typeface="Aptos"/>
              </a:defRPr>
            </a:pPr>
            <a:r>
              <a:t>ANALYSTLAB AFRICA  •  FINTRUST DATA ANALYTICS</a:t>
            </a:r>
          </a:p>
        </p:txBody>
      </p:sp>
      <p:sp>
        <p:nvSpPr>
          <p:cNvPr id="6" name="TextBox 5"/>
          <p:cNvSpPr txBox="1"/>
          <p:nvPr/>
        </p:nvSpPr>
        <p:spPr>
          <a:xfrm>
            <a:off x="11109960" y="6473952"/>
            <a:ext cx="457200" cy="182880"/>
          </a:xfrm>
          <a:prstGeom prst="rect">
            <a:avLst/>
          </a:prstGeom>
          <a:noFill/>
        </p:spPr>
        <p:txBody>
          <a:bodyPr wrap="square" lIns="54864" rIns="54864" tIns="36576" bIns="27432">
            <a:spAutoFit/>
          </a:bodyPr>
          <a:lstStyle/>
          <a:p>
            <a:pPr algn="r">
              <a:spcAft>
                <a:spcPts val="600"/>
              </a:spcAft>
              <a:defRPr sz="900" b="1">
                <a:solidFill>
                  <a:srgbClr val="657282"/>
                </a:solidFill>
                <a:latin typeface="Aptos"/>
              </a:defRPr>
            </a:pPr>
            <a:r>
              <a:t>07</a:t>
            </a:r>
          </a:p>
        </p:txBody>
      </p:sp>
      <p:sp>
        <p:nvSpPr>
          <p:cNvPr id="7" name="Rounded Rectangle 6"/>
          <p:cNvSpPr/>
          <p:nvPr/>
        </p:nvSpPr>
        <p:spPr>
          <a:xfrm>
            <a:off x="777240" y="1417320"/>
            <a:ext cx="3337560" cy="1325880"/>
          </a:xfrm>
          <a:prstGeom prst="roundRect">
            <a:avLst/>
          </a:prstGeom>
          <a:solidFill>
            <a:srgbClr val="FFFFFF"/>
          </a:solidFill>
          <a:ln>
            <a:solidFill>
              <a:srgbClr val="DD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417320"/>
            <a:ext cx="59436" cy="1325880"/>
          </a:xfrm>
          <a:prstGeom prst="rect">
            <a:avLst/>
          </a:prstGeom>
          <a:solidFill>
            <a:srgbClr val="E8AE43"/>
          </a:solidFill>
          <a:ln>
            <a:solidFill>
              <a:srgbClr val="E8AE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545336"/>
            <a:ext cx="3063240" cy="219456"/>
          </a:xfrm>
          <a:prstGeom prst="rect">
            <a:avLst/>
          </a:prstGeom>
          <a:noFill/>
        </p:spPr>
        <p:txBody>
          <a:bodyPr wrap="square" lIns="54864" rIns="54864" tIns="36576" bIns="27432">
            <a:spAutoFit/>
          </a:bodyPr>
          <a:lstStyle/>
          <a:p>
            <a:pPr>
              <a:spcAft>
                <a:spcPts val="600"/>
              </a:spcAft>
              <a:defRPr sz="900" b="1">
                <a:solidFill>
                  <a:srgbClr val="657282"/>
                </a:solidFill>
                <a:latin typeface="Aptos"/>
              </a:defRPr>
            </a:pPr>
            <a:r>
              <a:t>TOP 10% TRANSACTION VALUE SHARE</a:t>
            </a:r>
          </a:p>
        </p:txBody>
      </p:sp>
      <p:sp>
        <p:nvSpPr>
          <p:cNvPr id="10" name="TextBox 9"/>
          <p:cNvSpPr txBox="1"/>
          <p:nvPr/>
        </p:nvSpPr>
        <p:spPr>
          <a:xfrm>
            <a:off x="941832" y="1847088"/>
            <a:ext cx="3063240" cy="457200"/>
          </a:xfrm>
          <a:prstGeom prst="rect">
            <a:avLst/>
          </a:prstGeom>
          <a:noFill/>
        </p:spPr>
        <p:txBody>
          <a:bodyPr wrap="square" lIns="54864" rIns="54864" tIns="36576" bIns="27432">
            <a:spAutoFit/>
          </a:bodyPr>
          <a:lstStyle/>
          <a:p>
            <a:pPr>
              <a:spcAft>
                <a:spcPts val="600"/>
              </a:spcAft>
              <a:defRPr sz="2400" b="1">
                <a:solidFill>
                  <a:srgbClr val="13233D"/>
                </a:solidFill>
                <a:latin typeface="Aptos"/>
              </a:defRPr>
            </a:pPr>
            <a:r>
              <a:t>56.15%</a:t>
            </a:r>
          </a:p>
        </p:txBody>
      </p:sp>
      <p:sp>
        <p:nvSpPr>
          <p:cNvPr id="11" name="TextBox 10"/>
          <p:cNvSpPr txBox="1"/>
          <p:nvPr/>
        </p:nvSpPr>
        <p:spPr>
          <a:xfrm>
            <a:off x="941832" y="2404872"/>
            <a:ext cx="3063240" cy="201168"/>
          </a:xfrm>
          <a:prstGeom prst="rect">
            <a:avLst/>
          </a:prstGeom>
          <a:noFill/>
        </p:spPr>
        <p:txBody>
          <a:bodyPr wrap="square" lIns="54864" rIns="54864" tIns="36576" bIns="27432">
            <a:spAutoFit/>
          </a:bodyPr>
          <a:lstStyle/>
          <a:p>
            <a:pPr>
              <a:spcAft>
                <a:spcPts val="600"/>
              </a:spcAft>
              <a:defRPr sz="900" b="0">
                <a:solidFill>
                  <a:srgbClr val="657282"/>
                </a:solidFill>
                <a:latin typeface="Aptos"/>
              </a:defRPr>
            </a:pPr>
            <a:r>
              <a:t>value concentration by transaction</a:t>
            </a:r>
          </a:p>
        </p:txBody>
      </p:sp>
      <p:sp>
        <p:nvSpPr>
          <p:cNvPr id="12" name="Rounded Rectangle 11"/>
          <p:cNvSpPr/>
          <p:nvPr/>
        </p:nvSpPr>
        <p:spPr>
          <a:xfrm>
            <a:off x="4480559" y="1417320"/>
            <a:ext cx="3337560" cy="1325880"/>
          </a:xfrm>
          <a:prstGeom prst="roundRect">
            <a:avLst/>
          </a:prstGeom>
          <a:solidFill>
            <a:srgbClr val="FFFFFF"/>
          </a:solidFill>
          <a:ln>
            <a:solidFill>
              <a:srgbClr val="DD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59" y="1417320"/>
            <a:ext cx="59436" cy="1325880"/>
          </a:xfrm>
          <a:prstGeom prst="rect">
            <a:avLst/>
          </a:prstGeom>
          <a:solidFill>
            <a:srgbClr val="2C64AB"/>
          </a:solidFill>
          <a:ln>
            <a:solidFill>
              <a:srgbClr val="2C64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45151" y="1545336"/>
            <a:ext cx="3063240" cy="219456"/>
          </a:xfrm>
          <a:prstGeom prst="rect">
            <a:avLst/>
          </a:prstGeom>
          <a:noFill/>
        </p:spPr>
        <p:txBody>
          <a:bodyPr wrap="square" lIns="54864" rIns="54864" tIns="36576" bIns="27432">
            <a:spAutoFit/>
          </a:bodyPr>
          <a:lstStyle/>
          <a:p>
            <a:pPr>
              <a:spcAft>
                <a:spcPts val="600"/>
              </a:spcAft>
              <a:defRPr sz="900" b="1">
                <a:solidFill>
                  <a:srgbClr val="657282"/>
                </a:solidFill>
                <a:latin typeface="Aptos"/>
              </a:defRPr>
            </a:pPr>
            <a:r>
              <a:t>FREQUENCY–VALUE CORRELATION</a:t>
            </a:r>
          </a:p>
        </p:txBody>
      </p:sp>
      <p:sp>
        <p:nvSpPr>
          <p:cNvPr id="15" name="TextBox 14"/>
          <p:cNvSpPr txBox="1"/>
          <p:nvPr/>
        </p:nvSpPr>
        <p:spPr>
          <a:xfrm>
            <a:off x="4645151" y="1847088"/>
            <a:ext cx="3063240" cy="457200"/>
          </a:xfrm>
          <a:prstGeom prst="rect">
            <a:avLst/>
          </a:prstGeom>
          <a:noFill/>
        </p:spPr>
        <p:txBody>
          <a:bodyPr wrap="square" lIns="54864" rIns="54864" tIns="36576" bIns="27432">
            <a:spAutoFit/>
          </a:bodyPr>
          <a:lstStyle/>
          <a:p>
            <a:pPr>
              <a:spcAft>
                <a:spcPts val="600"/>
              </a:spcAft>
              <a:defRPr sz="2400" b="1">
                <a:solidFill>
                  <a:srgbClr val="13233D"/>
                </a:solidFill>
                <a:latin typeface="Aptos"/>
              </a:defRPr>
            </a:pPr>
            <a:r>
              <a:t>0.503</a:t>
            </a:r>
          </a:p>
        </p:txBody>
      </p:sp>
      <p:sp>
        <p:nvSpPr>
          <p:cNvPr id="16" name="TextBox 15"/>
          <p:cNvSpPr txBox="1"/>
          <p:nvPr/>
        </p:nvSpPr>
        <p:spPr>
          <a:xfrm>
            <a:off x="4645151" y="2404872"/>
            <a:ext cx="3063240" cy="201168"/>
          </a:xfrm>
          <a:prstGeom prst="rect">
            <a:avLst/>
          </a:prstGeom>
          <a:noFill/>
        </p:spPr>
        <p:txBody>
          <a:bodyPr wrap="square" lIns="54864" rIns="54864" tIns="36576" bIns="27432">
            <a:spAutoFit/>
          </a:bodyPr>
          <a:lstStyle/>
          <a:p>
            <a:pPr>
              <a:spcAft>
                <a:spcPts val="600"/>
              </a:spcAft>
              <a:defRPr sz="900" b="0">
                <a:solidFill>
                  <a:srgbClr val="657282"/>
                </a:solidFill>
                <a:latin typeface="Aptos"/>
              </a:defRPr>
            </a:pPr>
            <a:r>
              <a:t>positive relationship</a:t>
            </a:r>
          </a:p>
        </p:txBody>
      </p:sp>
      <p:sp>
        <p:nvSpPr>
          <p:cNvPr id="17" name="Rounded Rectangle 16"/>
          <p:cNvSpPr/>
          <p:nvPr/>
        </p:nvSpPr>
        <p:spPr>
          <a:xfrm>
            <a:off x="8183879" y="1417320"/>
            <a:ext cx="3337560" cy="1325880"/>
          </a:xfrm>
          <a:prstGeom prst="roundRect">
            <a:avLst/>
          </a:prstGeom>
          <a:solidFill>
            <a:srgbClr val="FFFFFF"/>
          </a:solidFill>
          <a:ln>
            <a:solidFill>
              <a:srgbClr val="DD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83879" y="1417320"/>
            <a:ext cx="59436" cy="1325880"/>
          </a:xfrm>
          <a:prstGeom prst="rect">
            <a:avLst/>
          </a:prstGeom>
          <a:solidFill>
            <a:srgbClr val="198F89"/>
          </a:solidFill>
          <a:ln>
            <a:solidFill>
              <a:srgbClr val="198F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48471" y="1545336"/>
            <a:ext cx="3063240" cy="219456"/>
          </a:xfrm>
          <a:prstGeom prst="rect">
            <a:avLst/>
          </a:prstGeom>
          <a:noFill/>
        </p:spPr>
        <p:txBody>
          <a:bodyPr wrap="square" lIns="54864" rIns="54864" tIns="36576" bIns="27432">
            <a:spAutoFit/>
          </a:bodyPr>
          <a:lstStyle/>
          <a:p>
            <a:pPr>
              <a:spcAft>
                <a:spcPts val="600"/>
              </a:spcAft>
              <a:defRPr sz="900" b="1">
                <a:solidFill>
                  <a:srgbClr val="657282"/>
                </a:solidFill>
                <a:latin typeface="Aptos"/>
              </a:defRPr>
            </a:pPr>
            <a:r>
              <a:t>HIGHEST VOLUME CHANNEL</a:t>
            </a:r>
          </a:p>
        </p:txBody>
      </p:sp>
      <p:sp>
        <p:nvSpPr>
          <p:cNvPr id="20" name="TextBox 19"/>
          <p:cNvSpPr txBox="1"/>
          <p:nvPr/>
        </p:nvSpPr>
        <p:spPr>
          <a:xfrm>
            <a:off x="8348471" y="1847088"/>
            <a:ext cx="3063240" cy="457200"/>
          </a:xfrm>
          <a:prstGeom prst="rect">
            <a:avLst/>
          </a:prstGeom>
          <a:noFill/>
        </p:spPr>
        <p:txBody>
          <a:bodyPr wrap="square" lIns="54864" rIns="54864" tIns="36576" bIns="27432">
            <a:spAutoFit/>
          </a:bodyPr>
          <a:lstStyle/>
          <a:p>
            <a:pPr>
              <a:spcAft>
                <a:spcPts val="600"/>
              </a:spcAft>
              <a:defRPr sz="2400" b="1">
                <a:solidFill>
                  <a:srgbClr val="13233D"/>
                </a:solidFill>
                <a:latin typeface="Aptos"/>
              </a:defRPr>
            </a:pPr>
            <a:r>
              <a:t>Mobile App</a:t>
            </a:r>
          </a:p>
        </p:txBody>
      </p:sp>
      <p:sp>
        <p:nvSpPr>
          <p:cNvPr id="21" name="TextBox 20"/>
          <p:cNvSpPr txBox="1"/>
          <p:nvPr/>
        </p:nvSpPr>
        <p:spPr>
          <a:xfrm>
            <a:off x="8348471" y="2404872"/>
            <a:ext cx="3063240" cy="201168"/>
          </a:xfrm>
          <a:prstGeom prst="rect">
            <a:avLst/>
          </a:prstGeom>
          <a:noFill/>
        </p:spPr>
        <p:txBody>
          <a:bodyPr wrap="square" lIns="54864" rIns="54864" tIns="36576" bIns="27432">
            <a:spAutoFit/>
          </a:bodyPr>
          <a:lstStyle/>
          <a:p>
            <a:pPr>
              <a:spcAft>
                <a:spcPts val="600"/>
              </a:spcAft>
              <a:defRPr sz="900" b="0">
                <a:solidFill>
                  <a:srgbClr val="657282"/>
                </a:solidFill>
                <a:latin typeface="Aptos"/>
              </a:defRPr>
            </a:pPr>
            <a:r>
              <a:t>within each of 4 segments</a:t>
            </a:r>
          </a:p>
        </p:txBody>
      </p:sp>
      <p:sp>
        <p:nvSpPr>
          <p:cNvPr id="22" name="TextBox 21"/>
          <p:cNvSpPr txBox="1"/>
          <p:nvPr/>
        </p:nvSpPr>
        <p:spPr>
          <a:xfrm>
            <a:off x="896112" y="3246120"/>
            <a:ext cx="10424160" cy="2194560"/>
          </a:xfrm>
          <a:prstGeom prst="rect">
            <a:avLst/>
          </a:prstGeom>
          <a:noFill/>
        </p:spPr>
        <p:txBody>
          <a:bodyPr wrap="square" lIns="45720" rIns="45720">
            <a:spAutoFit/>
          </a:bodyPr>
          <a:lstStyle/>
          <a:p>
            <a:pPr>
              <a:spcAft>
                <a:spcPts val="1200"/>
              </a:spcAft>
              <a:defRPr sz="1400">
                <a:solidFill>
                  <a:srgbClr val="2B3644"/>
                </a:solidFill>
                <a:latin typeface="Aptos"/>
              </a:defRPr>
            </a:pPr>
            <a:r>
              <a:t>Top 10% of transactions by value contributed 56.15% of total value.</a:t>
            </a:r>
          </a:p>
          <a:p>
            <a:pPr>
              <a:spcAft>
                <a:spcPts val="1200"/>
              </a:spcAft>
              <a:defRPr sz="1400">
                <a:solidFill>
                  <a:srgbClr val="2B3644"/>
                </a:solidFill>
                <a:latin typeface="Aptos"/>
              </a:defRPr>
            </a:pPr>
            <a:r>
              <a:t>Higher customer transaction frequency tended to accompany higher total value; rankings were not identical.</a:t>
            </a:r>
          </a:p>
          <a:p>
            <a:pPr>
              <a:spcAft>
                <a:spcPts val="1200"/>
              </a:spcAft>
              <a:defRPr sz="1400">
                <a:solidFill>
                  <a:srgbClr val="2B3644"/>
                </a:solidFill>
                <a:latin typeface="Aptos"/>
              </a:defRPr>
            </a:pPr>
            <a:r>
              <a:t>Mobile App had the highest volume within Everyday, Premium, SME and Student segments.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640080" y="155448"/>
            <a:ext cx="10058400" cy="201168"/>
          </a:xfrm>
          <a:prstGeom prst="rect">
            <a:avLst/>
          </a:prstGeom>
          <a:noFill/>
        </p:spPr>
        <p:txBody>
          <a:bodyPr wrap="square" lIns="54864" rIns="54864" tIns="36576" bIns="27432">
            <a:spAutoFit/>
          </a:bodyPr>
          <a:lstStyle/>
          <a:p>
            <a:pPr>
              <a:spcAft>
                <a:spcPts val="600"/>
              </a:spcAft>
              <a:defRPr sz="900" b="1">
                <a:solidFill>
                  <a:srgbClr val="198F89"/>
                </a:solidFill>
                <a:latin typeface="Aptos"/>
              </a:defRPr>
            </a:pPr>
            <a:r>
              <a:t>07 • BUSINESS INSIGHTS</a:t>
            </a:r>
          </a:p>
        </p:txBody>
      </p:sp>
      <p:sp>
        <p:nvSpPr>
          <p:cNvPr id="3" name="TextBox 2"/>
          <p:cNvSpPr txBox="1"/>
          <p:nvPr/>
        </p:nvSpPr>
        <p:spPr>
          <a:xfrm>
            <a:off x="621792" y="393192"/>
            <a:ext cx="10789920" cy="530352"/>
          </a:xfrm>
          <a:prstGeom prst="rect">
            <a:avLst/>
          </a:prstGeom>
          <a:noFill/>
        </p:spPr>
        <p:txBody>
          <a:bodyPr wrap="square" lIns="54864" rIns="54864" tIns="36576" bIns="27432">
            <a:spAutoFit/>
          </a:bodyPr>
          <a:lstStyle/>
          <a:p>
            <a:pPr>
              <a:spcAft>
                <a:spcPts val="600"/>
              </a:spcAft>
              <a:defRPr sz="2700" b="1">
                <a:solidFill>
                  <a:srgbClr val="13233D"/>
                </a:solidFill>
                <a:latin typeface="Aptos"/>
              </a:defRPr>
            </a:pPr>
            <a:r>
              <a:t>Review signals and unsuccessful journeys</a:t>
            </a:r>
          </a:p>
        </p:txBody>
      </p:sp>
      <p:sp>
        <p:nvSpPr>
          <p:cNvPr id="4" name="Rectangle 3"/>
          <p:cNvSpPr/>
          <p:nvPr/>
        </p:nvSpPr>
        <p:spPr>
          <a:xfrm>
            <a:off x="640080" y="987552"/>
            <a:ext cx="731520" cy="50292"/>
          </a:xfrm>
          <a:prstGeom prst="rect">
            <a:avLst/>
          </a:prstGeom>
          <a:solidFill>
            <a:srgbClr val="E8AE43"/>
          </a:solidFill>
          <a:ln>
            <a:solidFill>
              <a:srgbClr val="E8AE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92240"/>
            <a:ext cx="6400800" cy="164592"/>
          </a:xfrm>
          <a:prstGeom prst="rect">
            <a:avLst/>
          </a:prstGeom>
          <a:noFill/>
        </p:spPr>
        <p:txBody>
          <a:bodyPr wrap="square" lIns="54864" rIns="54864" tIns="36576" bIns="27432">
            <a:spAutoFit/>
          </a:bodyPr>
          <a:lstStyle/>
          <a:p>
            <a:pPr>
              <a:spcAft>
                <a:spcPts val="600"/>
              </a:spcAft>
              <a:defRPr sz="800" b="1">
                <a:solidFill>
                  <a:srgbClr val="657282"/>
                </a:solidFill>
                <a:latin typeface="Aptos"/>
              </a:defRPr>
            </a:pPr>
            <a:r>
              <a:t>ANALYSTLAB AFRICA  •  FINTRUST DATA ANALYTICS</a:t>
            </a:r>
          </a:p>
        </p:txBody>
      </p:sp>
      <p:sp>
        <p:nvSpPr>
          <p:cNvPr id="6" name="TextBox 5"/>
          <p:cNvSpPr txBox="1"/>
          <p:nvPr/>
        </p:nvSpPr>
        <p:spPr>
          <a:xfrm>
            <a:off x="11109960" y="6473952"/>
            <a:ext cx="457200" cy="182880"/>
          </a:xfrm>
          <a:prstGeom prst="rect">
            <a:avLst/>
          </a:prstGeom>
          <a:noFill/>
        </p:spPr>
        <p:txBody>
          <a:bodyPr wrap="square" lIns="54864" rIns="54864" tIns="36576" bIns="27432">
            <a:spAutoFit/>
          </a:bodyPr>
          <a:lstStyle/>
          <a:p>
            <a:pPr algn="r">
              <a:spcAft>
                <a:spcPts val="600"/>
              </a:spcAft>
              <a:defRPr sz="900" b="1">
                <a:solidFill>
                  <a:srgbClr val="657282"/>
                </a:solidFill>
                <a:latin typeface="Aptos"/>
              </a:defRPr>
            </a:pPr>
            <a:r>
              <a:t>08</a:t>
            </a:r>
          </a:p>
        </p:txBody>
      </p:sp>
      <p:sp>
        <p:nvSpPr>
          <p:cNvPr id="7" name="Rounded Rectangle 6"/>
          <p:cNvSpPr/>
          <p:nvPr/>
        </p:nvSpPr>
        <p:spPr>
          <a:xfrm>
            <a:off x="777240" y="1417320"/>
            <a:ext cx="3337560" cy="1325880"/>
          </a:xfrm>
          <a:prstGeom prst="roundRect">
            <a:avLst/>
          </a:prstGeom>
          <a:solidFill>
            <a:srgbClr val="FFFFFF"/>
          </a:solidFill>
          <a:ln>
            <a:solidFill>
              <a:srgbClr val="DD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417320"/>
            <a:ext cx="59436" cy="1325880"/>
          </a:xfrm>
          <a:prstGeom prst="rect">
            <a:avLst/>
          </a:prstGeom>
          <a:solidFill>
            <a:srgbClr val="B14344"/>
          </a:solidFill>
          <a:ln>
            <a:solidFill>
              <a:srgbClr val="B14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545336"/>
            <a:ext cx="3063240" cy="219456"/>
          </a:xfrm>
          <a:prstGeom prst="rect">
            <a:avLst/>
          </a:prstGeom>
          <a:noFill/>
        </p:spPr>
        <p:txBody>
          <a:bodyPr wrap="square" lIns="54864" rIns="54864" tIns="36576" bIns="27432">
            <a:spAutoFit/>
          </a:bodyPr>
          <a:lstStyle/>
          <a:p>
            <a:pPr>
              <a:spcAft>
                <a:spcPts val="600"/>
              </a:spcAft>
              <a:defRPr sz="900" b="1">
                <a:solidFill>
                  <a:srgbClr val="657282"/>
                </a:solidFill>
                <a:latin typeface="Aptos"/>
              </a:defRPr>
            </a:pPr>
            <a:r>
              <a:t>INTERNATIONAL REVIEW RATE</a:t>
            </a:r>
          </a:p>
        </p:txBody>
      </p:sp>
      <p:sp>
        <p:nvSpPr>
          <p:cNvPr id="10" name="TextBox 9"/>
          <p:cNvSpPr txBox="1"/>
          <p:nvPr/>
        </p:nvSpPr>
        <p:spPr>
          <a:xfrm>
            <a:off x="941832" y="1847088"/>
            <a:ext cx="3063240" cy="457200"/>
          </a:xfrm>
          <a:prstGeom prst="rect">
            <a:avLst/>
          </a:prstGeom>
          <a:noFill/>
        </p:spPr>
        <p:txBody>
          <a:bodyPr wrap="square" lIns="54864" rIns="54864" tIns="36576" bIns="27432">
            <a:spAutoFit/>
          </a:bodyPr>
          <a:lstStyle/>
          <a:p>
            <a:pPr>
              <a:spcAft>
                <a:spcPts val="600"/>
              </a:spcAft>
              <a:defRPr sz="2400" b="1">
                <a:solidFill>
                  <a:srgbClr val="13233D"/>
                </a:solidFill>
                <a:latin typeface="Aptos"/>
              </a:defRPr>
            </a:pPr>
            <a:r>
              <a:t>36.88%</a:t>
            </a:r>
          </a:p>
        </p:txBody>
      </p:sp>
      <p:sp>
        <p:nvSpPr>
          <p:cNvPr id="11" name="TextBox 10"/>
          <p:cNvSpPr txBox="1"/>
          <p:nvPr/>
        </p:nvSpPr>
        <p:spPr>
          <a:xfrm>
            <a:off x="941832" y="2404872"/>
            <a:ext cx="3063240" cy="201168"/>
          </a:xfrm>
          <a:prstGeom prst="rect">
            <a:avLst/>
          </a:prstGeom>
          <a:noFill/>
        </p:spPr>
        <p:txBody>
          <a:bodyPr wrap="square" lIns="54864" rIns="54864" tIns="36576" bIns="27432">
            <a:spAutoFit/>
          </a:bodyPr>
          <a:lstStyle/>
          <a:p>
            <a:pPr>
              <a:spcAft>
                <a:spcPts val="600"/>
              </a:spcAft>
              <a:defRPr sz="900" b="0">
                <a:solidFill>
                  <a:srgbClr val="657282"/>
                </a:solidFill>
                <a:latin typeface="Aptos"/>
              </a:defRPr>
            </a:pPr>
            <a:r>
              <a:t>synthetic review flags</a:t>
            </a:r>
          </a:p>
        </p:txBody>
      </p:sp>
      <p:sp>
        <p:nvSpPr>
          <p:cNvPr id="12" name="Rounded Rectangle 11"/>
          <p:cNvSpPr/>
          <p:nvPr/>
        </p:nvSpPr>
        <p:spPr>
          <a:xfrm>
            <a:off x="4480559" y="1417320"/>
            <a:ext cx="3337560" cy="1325880"/>
          </a:xfrm>
          <a:prstGeom prst="roundRect">
            <a:avLst/>
          </a:prstGeom>
          <a:solidFill>
            <a:srgbClr val="FFFFFF"/>
          </a:solidFill>
          <a:ln>
            <a:solidFill>
              <a:srgbClr val="DD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59" y="1417320"/>
            <a:ext cx="59436" cy="1325880"/>
          </a:xfrm>
          <a:prstGeom prst="rect">
            <a:avLst/>
          </a:prstGeom>
          <a:solidFill>
            <a:srgbClr val="198F89"/>
          </a:solidFill>
          <a:ln>
            <a:solidFill>
              <a:srgbClr val="198F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45151" y="1545336"/>
            <a:ext cx="3063240" cy="219456"/>
          </a:xfrm>
          <a:prstGeom prst="rect">
            <a:avLst/>
          </a:prstGeom>
          <a:noFill/>
        </p:spPr>
        <p:txBody>
          <a:bodyPr wrap="square" lIns="54864" rIns="54864" tIns="36576" bIns="27432">
            <a:spAutoFit/>
          </a:bodyPr>
          <a:lstStyle/>
          <a:p>
            <a:pPr>
              <a:spcAft>
                <a:spcPts val="600"/>
              </a:spcAft>
              <a:defRPr sz="900" b="1">
                <a:solidFill>
                  <a:srgbClr val="657282"/>
                </a:solidFill>
                <a:latin typeface="Aptos"/>
              </a:defRPr>
            </a:pPr>
            <a:r>
              <a:t>DOMESTIC REVIEW RATE</a:t>
            </a:r>
          </a:p>
        </p:txBody>
      </p:sp>
      <p:sp>
        <p:nvSpPr>
          <p:cNvPr id="15" name="TextBox 14"/>
          <p:cNvSpPr txBox="1"/>
          <p:nvPr/>
        </p:nvSpPr>
        <p:spPr>
          <a:xfrm>
            <a:off x="4645151" y="1847088"/>
            <a:ext cx="3063240" cy="457200"/>
          </a:xfrm>
          <a:prstGeom prst="rect">
            <a:avLst/>
          </a:prstGeom>
          <a:noFill/>
        </p:spPr>
        <p:txBody>
          <a:bodyPr wrap="square" lIns="54864" rIns="54864" tIns="36576" bIns="27432">
            <a:spAutoFit/>
          </a:bodyPr>
          <a:lstStyle/>
          <a:p>
            <a:pPr>
              <a:spcAft>
                <a:spcPts val="600"/>
              </a:spcAft>
              <a:defRPr sz="2400" b="1">
                <a:solidFill>
                  <a:srgbClr val="13233D"/>
                </a:solidFill>
                <a:latin typeface="Aptos"/>
              </a:defRPr>
            </a:pPr>
            <a:r>
              <a:t>18.88%</a:t>
            </a:r>
          </a:p>
        </p:txBody>
      </p:sp>
      <p:sp>
        <p:nvSpPr>
          <p:cNvPr id="16" name="TextBox 15"/>
          <p:cNvSpPr txBox="1"/>
          <p:nvPr/>
        </p:nvSpPr>
        <p:spPr>
          <a:xfrm>
            <a:off x="4645151" y="2404872"/>
            <a:ext cx="3063240" cy="201168"/>
          </a:xfrm>
          <a:prstGeom prst="rect">
            <a:avLst/>
          </a:prstGeom>
          <a:noFill/>
        </p:spPr>
        <p:txBody>
          <a:bodyPr wrap="square" lIns="54864" rIns="54864" tIns="36576" bIns="27432">
            <a:spAutoFit/>
          </a:bodyPr>
          <a:lstStyle/>
          <a:p>
            <a:pPr>
              <a:spcAft>
                <a:spcPts val="600"/>
              </a:spcAft>
              <a:defRPr sz="900" b="0">
                <a:solidFill>
                  <a:srgbClr val="657282"/>
                </a:solidFill>
                <a:latin typeface="Aptos"/>
              </a:defRPr>
            </a:pPr>
            <a:r>
              <a:t>synthetic review flags</a:t>
            </a:r>
          </a:p>
        </p:txBody>
      </p:sp>
      <p:sp>
        <p:nvSpPr>
          <p:cNvPr id="17" name="Rounded Rectangle 16"/>
          <p:cNvSpPr/>
          <p:nvPr/>
        </p:nvSpPr>
        <p:spPr>
          <a:xfrm>
            <a:off x="8183879" y="1417320"/>
            <a:ext cx="3337560" cy="1325880"/>
          </a:xfrm>
          <a:prstGeom prst="roundRect">
            <a:avLst/>
          </a:prstGeom>
          <a:solidFill>
            <a:srgbClr val="FFFFFF"/>
          </a:solidFill>
          <a:ln>
            <a:solidFill>
              <a:srgbClr val="DD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83879" y="1417320"/>
            <a:ext cx="59436" cy="1325880"/>
          </a:xfrm>
          <a:prstGeom prst="rect">
            <a:avLst/>
          </a:prstGeom>
          <a:solidFill>
            <a:srgbClr val="E8AE43"/>
          </a:solidFill>
          <a:ln>
            <a:solidFill>
              <a:srgbClr val="E8AE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48471" y="1545336"/>
            <a:ext cx="3063240" cy="219456"/>
          </a:xfrm>
          <a:prstGeom prst="rect">
            <a:avLst/>
          </a:prstGeom>
          <a:noFill/>
        </p:spPr>
        <p:txBody>
          <a:bodyPr wrap="square" lIns="54864" rIns="54864" tIns="36576" bIns="27432">
            <a:spAutoFit/>
          </a:bodyPr>
          <a:lstStyle/>
          <a:p>
            <a:pPr>
              <a:spcAft>
                <a:spcPts val="600"/>
              </a:spcAft>
              <a:defRPr sz="900" b="1">
                <a:solidFill>
                  <a:srgbClr val="657282"/>
                </a:solidFill>
                <a:latin typeface="Aptos"/>
              </a:defRPr>
            </a:pPr>
            <a:r>
              <a:t>UNSUCCESSFUL OUTCOMES</a:t>
            </a:r>
          </a:p>
        </p:txBody>
      </p:sp>
      <p:sp>
        <p:nvSpPr>
          <p:cNvPr id="20" name="TextBox 19"/>
          <p:cNvSpPr txBox="1"/>
          <p:nvPr/>
        </p:nvSpPr>
        <p:spPr>
          <a:xfrm>
            <a:off x="8348471" y="1847088"/>
            <a:ext cx="3063240" cy="457200"/>
          </a:xfrm>
          <a:prstGeom prst="rect">
            <a:avLst/>
          </a:prstGeom>
          <a:noFill/>
        </p:spPr>
        <p:txBody>
          <a:bodyPr wrap="square" lIns="54864" rIns="54864" tIns="36576" bIns="27432">
            <a:spAutoFit/>
          </a:bodyPr>
          <a:lstStyle/>
          <a:p>
            <a:pPr>
              <a:spcAft>
                <a:spcPts val="600"/>
              </a:spcAft>
              <a:defRPr sz="2400" b="1">
                <a:solidFill>
                  <a:srgbClr val="13233D"/>
                </a:solidFill>
                <a:latin typeface="Aptos"/>
              </a:defRPr>
            </a:pPr>
            <a:r>
              <a:t>1,144</a:t>
            </a:r>
          </a:p>
        </p:txBody>
      </p:sp>
      <p:sp>
        <p:nvSpPr>
          <p:cNvPr id="21" name="TextBox 20"/>
          <p:cNvSpPr txBox="1"/>
          <p:nvPr/>
        </p:nvSpPr>
        <p:spPr>
          <a:xfrm>
            <a:off x="8348471" y="2404872"/>
            <a:ext cx="3063240" cy="201168"/>
          </a:xfrm>
          <a:prstGeom prst="rect">
            <a:avLst/>
          </a:prstGeom>
          <a:noFill/>
        </p:spPr>
        <p:txBody>
          <a:bodyPr wrap="square" lIns="54864" rIns="54864" tIns="36576" bIns="27432">
            <a:spAutoFit/>
          </a:bodyPr>
          <a:lstStyle/>
          <a:p>
            <a:pPr>
              <a:spcAft>
                <a:spcPts val="600"/>
              </a:spcAft>
              <a:defRPr sz="900" b="0">
                <a:solidFill>
                  <a:srgbClr val="657282"/>
                </a:solidFill>
                <a:latin typeface="Aptos"/>
              </a:defRPr>
            </a:pPr>
            <a:r>
              <a:t>failed, reversed, pending</a:t>
            </a:r>
          </a:p>
        </p:txBody>
      </p:sp>
      <p:sp>
        <p:nvSpPr>
          <p:cNvPr id="22" name="TextBox 21"/>
          <p:cNvSpPr txBox="1"/>
          <p:nvPr/>
        </p:nvSpPr>
        <p:spPr>
          <a:xfrm>
            <a:off x="896112" y="3246120"/>
            <a:ext cx="10424160" cy="2194560"/>
          </a:xfrm>
          <a:prstGeom prst="rect">
            <a:avLst/>
          </a:prstGeom>
          <a:noFill/>
        </p:spPr>
        <p:txBody>
          <a:bodyPr wrap="square" lIns="45720" rIns="45720">
            <a:spAutoFit/>
          </a:bodyPr>
          <a:lstStyle/>
          <a:p>
            <a:pPr>
              <a:spcAft>
                <a:spcPts val="1200"/>
              </a:spcAft>
              <a:defRPr sz="1400">
                <a:solidFill>
                  <a:srgbClr val="2B3644"/>
                </a:solidFill>
                <a:latin typeface="Aptos"/>
              </a:defRPr>
            </a:pPr>
            <a:r>
              <a:t>International review-flag rates were higher overall and across all six transaction types checked.</a:t>
            </a:r>
          </a:p>
          <a:p>
            <a:pPr>
              <a:spcAft>
                <a:spcPts val="1200"/>
              </a:spcAft>
              <a:defRPr sz="1400">
                <a:solidFill>
                  <a:srgbClr val="2B3644"/>
                </a:solidFill>
                <a:latin typeface="Aptos"/>
              </a:defRPr>
            </a:pPr>
            <a:r>
              <a:t>Transfer + Mobile App: 167 unsuccessful transactions; Card Purchase + Mobile App: 134.</a:t>
            </a:r>
          </a:p>
          <a:p>
            <a:pPr>
              <a:spcAft>
                <a:spcPts val="1200"/>
              </a:spcAft>
              <a:defRPr sz="1400">
                <a:solidFill>
                  <a:srgbClr val="2B3644"/>
                </a:solidFill>
                <a:latin typeface="Aptos"/>
              </a:defRPr>
            </a:pPr>
            <a:r>
              <a:t>Channel performance differed by transaction type; highest volume did not always mean highest success rate.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640080" y="155448"/>
            <a:ext cx="10058400" cy="201168"/>
          </a:xfrm>
          <a:prstGeom prst="rect">
            <a:avLst/>
          </a:prstGeom>
          <a:noFill/>
        </p:spPr>
        <p:txBody>
          <a:bodyPr wrap="square" lIns="54864" rIns="54864" tIns="36576" bIns="27432">
            <a:spAutoFit/>
          </a:bodyPr>
          <a:lstStyle/>
          <a:p>
            <a:pPr>
              <a:spcAft>
                <a:spcPts val="600"/>
              </a:spcAft>
              <a:defRPr sz="900" b="1">
                <a:solidFill>
                  <a:srgbClr val="198F89"/>
                </a:solidFill>
                <a:latin typeface="Aptos"/>
              </a:defRPr>
            </a:pPr>
            <a:r>
              <a:t>08 • REPORTING</a:t>
            </a:r>
          </a:p>
        </p:txBody>
      </p:sp>
      <p:sp>
        <p:nvSpPr>
          <p:cNvPr id="3" name="TextBox 2"/>
          <p:cNvSpPr txBox="1"/>
          <p:nvPr/>
        </p:nvSpPr>
        <p:spPr>
          <a:xfrm>
            <a:off x="621792" y="393192"/>
            <a:ext cx="10789920" cy="530352"/>
          </a:xfrm>
          <a:prstGeom prst="rect">
            <a:avLst/>
          </a:prstGeom>
          <a:noFill/>
        </p:spPr>
        <p:txBody>
          <a:bodyPr wrap="square" lIns="54864" rIns="54864" tIns="36576" bIns="27432">
            <a:spAutoFit/>
          </a:bodyPr>
          <a:lstStyle/>
          <a:p>
            <a:pPr>
              <a:spcAft>
                <a:spcPts val="600"/>
              </a:spcAft>
              <a:defRPr sz="2700" b="1">
                <a:solidFill>
                  <a:srgbClr val="13233D"/>
                </a:solidFill>
                <a:latin typeface="Aptos"/>
              </a:defRPr>
            </a:pPr>
            <a:r>
              <a:t>Power BI: management-ready reporting</a:t>
            </a:r>
          </a:p>
        </p:txBody>
      </p:sp>
      <p:sp>
        <p:nvSpPr>
          <p:cNvPr id="4" name="Rectangle 3"/>
          <p:cNvSpPr/>
          <p:nvPr/>
        </p:nvSpPr>
        <p:spPr>
          <a:xfrm>
            <a:off x="640080" y="987552"/>
            <a:ext cx="731520" cy="50292"/>
          </a:xfrm>
          <a:prstGeom prst="rect">
            <a:avLst/>
          </a:prstGeom>
          <a:solidFill>
            <a:srgbClr val="E8AE43"/>
          </a:solidFill>
          <a:ln>
            <a:solidFill>
              <a:srgbClr val="E8AE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92240"/>
            <a:ext cx="6400800" cy="164592"/>
          </a:xfrm>
          <a:prstGeom prst="rect">
            <a:avLst/>
          </a:prstGeom>
          <a:noFill/>
        </p:spPr>
        <p:txBody>
          <a:bodyPr wrap="square" lIns="54864" rIns="54864" tIns="36576" bIns="27432">
            <a:spAutoFit/>
          </a:bodyPr>
          <a:lstStyle/>
          <a:p>
            <a:pPr>
              <a:spcAft>
                <a:spcPts val="600"/>
              </a:spcAft>
              <a:defRPr sz="800" b="1">
                <a:solidFill>
                  <a:srgbClr val="657282"/>
                </a:solidFill>
                <a:latin typeface="Aptos"/>
              </a:defRPr>
            </a:pPr>
            <a:r>
              <a:t>ANALYSTLAB AFRICA  •  FINTRUST DATA ANALYTICS</a:t>
            </a:r>
          </a:p>
        </p:txBody>
      </p:sp>
      <p:sp>
        <p:nvSpPr>
          <p:cNvPr id="6" name="TextBox 5"/>
          <p:cNvSpPr txBox="1"/>
          <p:nvPr/>
        </p:nvSpPr>
        <p:spPr>
          <a:xfrm>
            <a:off x="11109960" y="6473952"/>
            <a:ext cx="457200" cy="182880"/>
          </a:xfrm>
          <a:prstGeom prst="rect">
            <a:avLst/>
          </a:prstGeom>
          <a:noFill/>
        </p:spPr>
        <p:txBody>
          <a:bodyPr wrap="square" lIns="54864" rIns="54864" tIns="36576" bIns="27432">
            <a:spAutoFit/>
          </a:bodyPr>
          <a:lstStyle/>
          <a:p>
            <a:pPr algn="r">
              <a:spcAft>
                <a:spcPts val="600"/>
              </a:spcAft>
              <a:defRPr sz="900" b="1">
                <a:solidFill>
                  <a:srgbClr val="657282"/>
                </a:solidFill>
                <a:latin typeface="Aptos"/>
              </a:defRPr>
            </a:pPr>
            <a:r>
              <a:t>09</a:t>
            </a:r>
          </a:p>
        </p:txBody>
      </p:sp>
      <p:sp>
        <p:nvSpPr>
          <p:cNvPr id="7" name="Rounded Rectangle 6"/>
          <p:cNvSpPr/>
          <p:nvPr/>
        </p:nvSpPr>
        <p:spPr>
          <a:xfrm>
            <a:off x="777240" y="1417320"/>
            <a:ext cx="3337560" cy="1325880"/>
          </a:xfrm>
          <a:prstGeom prst="roundRect">
            <a:avLst/>
          </a:prstGeom>
          <a:solidFill>
            <a:srgbClr val="FFFFFF"/>
          </a:solidFill>
          <a:ln>
            <a:solidFill>
              <a:srgbClr val="DD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417320"/>
            <a:ext cx="59436" cy="1325880"/>
          </a:xfrm>
          <a:prstGeom prst="rect">
            <a:avLst/>
          </a:prstGeom>
          <a:solidFill>
            <a:srgbClr val="2C64AB"/>
          </a:solidFill>
          <a:ln>
            <a:solidFill>
              <a:srgbClr val="2C64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545336"/>
            <a:ext cx="3063240" cy="219456"/>
          </a:xfrm>
          <a:prstGeom prst="rect">
            <a:avLst/>
          </a:prstGeom>
          <a:noFill/>
        </p:spPr>
        <p:txBody>
          <a:bodyPr wrap="square" lIns="54864" rIns="54864" tIns="36576" bIns="27432">
            <a:spAutoFit/>
          </a:bodyPr>
          <a:lstStyle/>
          <a:p>
            <a:pPr>
              <a:spcAft>
                <a:spcPts val="600"/>
              </a:spcAft>
              <a:defRPr sz="900" b="1">
                <a:solidFill>
                  <a:srgbClr val="657282"/>
                </a:solidFill>
                <a:latin typeface="Aptos"/>
              </a:defRPr>
            </a:pPr>
            <a:r>
              <a:t>TRANSACTION VALUE</a:t>
            </a:r>
          </a:p>
        </p:txBody>
      </p:sp>
      <p:sp>
        <p:nvSpPr>
          <p:cNvPr id="10" name="TextBox 9"/>
          <p:cNvSpPr txBox="1"/>
          <p:nvPr/>
        </p:nvSpPr>
        <p:spPr>
          <a:xfrm>
            <a:off x="941832" y="1847088"/>
            <a:ext cx="3063240" cy="457200"/>
          </a:xfrm>
          <a:prstGeom prst="rect">
            <a:avLst/>
          </a:prstGeom>
          <a:noFill/>
        </p:spPr>
        <p:txBody>
          <a:bodyPr wrap="square" lIns="54864" rIns="54864" tIns="36576" bIns="27432">
            <a:spAutoFit/>
          </a:bodyPr>
          <a:lstStyle/>
          <a:p>
            <a:pPr>
              <a:spcAft>
                <a:spcPts val="600"/>
              </a:spcAft>
              <a:defRPr sz="2400" b="1">
                <a:solidFill>
                  <a:srgbClr val="13233D"/>
                </a:solidFill>
                <a:latin typeface="Aptos"/>
              </a:defRPr>
            </a:pPr>
            <a:r>
              <a:t>₦560.48M</a:t>
            </a:r>
          </a:p>
        </p:txBody>
      </p:sp>
      <p:sp>
        <p:nvSpPr>
          <p:cNvPr id="11" name="TextBox 10"/>
          <p:cNvSpPr txBox="1"/>
          <p:nvPr/>
        </p:nvSpPr>
        <p:spPr>
          <a:xfrm>
            <a:off x="941832" y="2404872"/>
            <a:ext cx="3063240" cy="201168"/>
          </a:xfrm>
          <a:prstGeom prst="rect">
            <a:avLst/>
          </a:prstGeom>
          <a:noFill/>
        </p:spPr>
        <p:txBody>
          <a:bodyPr wrap="square" lIns="54864" rIns="54864" tIns="36576" bIns="27432">
            <a:spAutoFit/>
          </a:bodyPr>
          <a:lstStyle/>
          <a:p>
            <a:pPr>
              <a:spcAft>
                <a:spcPts val="600"/>
              </a:spcAft>
              <a:defRPr sz="900" b="0">
                <a:solidFill>
                  <a:srgbClr val="657282"/>
                </a:solidFill>
                <a:latin typeface="Aptos"/>
              </a:defRPr>
            </a:pPr>
          </a:p>
        </p:txBody>
      </p:sp>
      <p:sp>
        <p:nvSpPr>
          <p:cNvPr id="12" name="Rounded Rectangle 11"/>
          <p:cNvSpPr/>
          <p:nvPr/>
        </p:nvSpPr>
        <p:spPr>
          <a:xfrm>
            <a:off x="4480559" y="1417320"/>
            <a:ext cx="3337560" cy="1325880"/>
          </a:xfrm>
          <a:prstGeom prst="roundRect">
            <a:avLst/>
          </a:prstGeom>
          <a:solidFill>
            <a:srgbClr val="FFFFFF"/>
          </a:solidFill>
          <a:ln>
            <a:solidFill>
              <a:srgbClr val="DD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59" y="1417320"/>
            <a:ext cx="59436" cy="1325880"/>
          </a:xfrm>
          <a:prstGeom prst="rect">
            <a:avLst/>
          </a:prstGeom>
          <a:solidFill>
            <a:srgbClr val="2D8563"/>
          </a:solidFill>
          <a:ln>
            <a:solidFill>
              <a:srgbClr val="2D8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45151" y="1545336"/>
            <a:ext cx="3063240" cy="219456"/>
          </a:xfrm>
          <a:prstGeom prst="rect">
            <a:avLst/>
          </a:prstGeom>
          <a:noFill/>
        </p:spPr>
        <p:txBody>
          <a:bodyPr wrap="square" lIns="54864" rIns="54864" tIns="36576" bIns="27432">
            <a:spAutoFit/>
          </a:bodyPr>
          <a:lstStyle/>
          <a:p>
            <a:pPr>
              <a:spcAft>
                <a:spcPts val="600"/>
              </a:spcAft>
              <a:defRPr sz="900" b="1">
                <a:solidFill>
                  <a:srgbClr val="657282"/>
                </a:solidFill>
                <a:latin typeface="Aptos"/>
              </a:defRPr>
            </a:pPr>
            <a:r>
              <a:t>SUCCESS RATE</a:t>
            </a:r>
          </a:p>
        </p:txBody>
      </p:sp>
      <p:sp>
        <p:nvSpPr>
          <p:cNvPr id="15" name="TextBox 14"/>
          <p:cNvSpPr txBox="1"/>
          <p:nvPr/>
        </p:nvSpPr>
        <p:spPr>
          <a:xfrm>
            <a:off x="4645151" y="1847088"/>
            <a:ext cx="3063240" cy="457200"/>
          </a:xfrm>
          <a:prstGeom prst="rect">
            <a:avLst/>
          </a:prstGeom>
          <a:noFill/>
        </p:spPr>
        <p:txBody>
          <a:bodyPr wrap="square" lIns="54864" rIns="54864" tIns="36576" bIns="27432">
            <a:spAutoFit/>
          </a:bodyPr>
          <a:lstStyle/>
          <a:p>
            <a:pPr>
              <a:spcAft>
                <a:spcPts val="600"/>
              </a:spcAft>
              <a:defRPr sz="2400" b="1">
                <a:solidFill>
                  <a:srgbClr val="13233D"/>
                </a:solidFill>
                <a:latin typeface="Aptos"/>
              </a:defRPr>
            </a:pPr>
            <a:r>
              <a:t>90.47%</a:t>
            </a:r>
          </a:p>
        </p:txBody>
      </p:sp>
      <p:sp>
        <p:nvSpPr>
          <p:cNvPr id="16" name="TextBox 15"/>
          <p:cNvSpPr txBox="1"/>
          <p:nvPr/>
        </p:nvSpPr>
        <p:spPr>
          <a:xfrm>
            <a:off x="4645151" y="2404872"/>
            <a:ext cx="3063240" cy="201168"/>
          </a:xfrm>
          <a:prstGeom prst="rect">
            <a:avLst/>
          </a:prstGeom>
          <a:noFill/>
        </p:spPr>
        <p:txBody>
          <a:bodyPr wrap="square" lIns="54864" rIns="54864" tIns="36576" bIns="27432">
            <a:spAutoFit/>
          </a:bodyPr>
          <a:lstStyle/>
          <a:p>
            <a:pPr>
              <a:spcAft>
                <a:spcPts val="600"/>
              </a:spcAft>
              <a:defRPr sz="900" b="0">
                <a:solidFill>
                  <a:srgbClr val="657282"/>
                </a:solidFill>
                <a:latin typeface="Aptos"/>
              </a:defRPr>
            </a:pPr>
          </a:p>
        </p:txBody>
      </p:sp>
      <p:sp>
        <p:nvSpPr>
          <p:cNvPr id="17" name="Rounded Rectangle 16"/>
          <p:cNvSpPr/>
          <p:nvPr/>
        </p:nvSpPr>
        <p:spPr>
          <a:xfrm>
            <a:off x="8183879" y="1417320"/>
            <a:ext cx="3337560" cy="1325880"/>
          </a:xfrm>
          <a:prstGeom prst="roundRect">
            <a:avLst/>
          </a:prstGeom>
          <a:solidFill>
            <a:srgbClr val="FFFFFF"/>
          </a:solidFill>
          <a:ln>
            <a:solidFill>
              <a:srgbClr val="DD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83879" y="1417320"/>
            <a:ext cx="59436" cy="1325880"/>
          </a:xfrm>
          <a:prstGeom prst="rect">
            <a:avLst/>
          </a:prstGeom>
          <a:solidFill>
            <a:srgbClr val="E8AE43"/>
          </a:solidFill>
          <a:ln>
            <a:solidFill>
              <a:srgbClr val="E8AE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48471" y="1545336"/>
            <a:ext cx="3063240" cy="219456"/>
          </a:xfrm>
          <a:prstGeom prst="rect">
            <a:avLst/>
          </a:prstGeom>
          <a:noFill/>
        </p:spPr>
        <p:txBody>
          <a:bodyPr wrap="square" lIns="54864" rIns="54864" tIns="36576" bIns="27432">
            <a:spAutoFit/>
          </a:bodyPr>
          <a:lstStyle/>
          <a:p>
            <a:pPr>
              <a:spcAft>
                <a:spcPts val="600"/>
              </a:spcAft>
              <a:defRPr sz="900" b="1">
                <a:solidFill>
                  <a:srgbClr val="657282"/>
                </a:solidFill>
                <a:latin typeface="Aptos"/>
              </a:defRPr>
            </a:pPr>
            <a:r>
              <a:t>REVIEW-FLAG RATE</a:t>
            </a:r>
          </a:p>
        </p:txBody>
      </p:sp>
      <p:sp>
        <p:nvSpPr>
          <p:cNvPr id="20" name="TextBox 19"/>
          <p:cNvSpPr txBox="1"/>
          <p:nvPr/>
        </p:nvSpPr>
        <p:spPr>
          <a:xfrm>
            <a:off x="8348471" y="1847088"/>
            <a:ext cx="3063240" cy="457200"/>
          </a:xfrm>
          <a:prstGeom prst="rect">
            <a:avLst/>
          </a:prstGeom>
          <a:noFill/>
        </p:spPr>
        <p:txBody>
          <a:bodyPr wrap="square" lIns="54864" rIns="54864" tIns="36576" bIns="27432">
            <a:spAutoFit/>
          </a:bodyPr>
          <a:lstStyle/>
          <a:p>
            <a:pPr>
              <a:spcAft>
                <a:spcPts val="600"/>
              </a:spcAft>
              <a:defRPr sz="2400" b="1">
                <a:solidFill>
                  <a:srgbClr val="13233D"/>
                </a:solidFill>
                <a:latin typeface="Aptos"/>
              </a:defRPr>
            </a:pPr>
            <a:r>
              <a:t>19.60%</a:t>
            </a:r>
          </a:p>
        </p:txBody>
      </p:sp>
      <p:sp>
        <p:nvSpPr>
          <p:cNvPr id="21" name="TextBox 20"/>
          <p:cNvSpPr txBox="1"/>
          <p:nvPr/>
        </p:nvSpPr>
        <p:spPr>
          <a:xfrm>
            <a:off x="8348471" y="2404872"/>
            <a:ext cx="3063240" cy="201168"/>
          </a:xfrm>
          <a:prstGeom prst="rect">
            <a:avLst/>
          </a:prstGeom>
          <a:noFill/>
        </p:spPr>
        <p:txBody>
          <a:bodyPr wrap="square" lIns="54864" rIns="54864" tIns="36576" bIns="27432">
            <a:spAutoFit/>
          </a:bodyPr>
          <a:lstStyle/>
          <a:p>
            <a:pPr>
              <a:spcAft>
                <a:spcPts val="600"/>
              </a:spcAft>
              <a:defRPr sz="900" b="0">
                <a:solidFill>
                  <a:srgbClr val="657282"/>
                </a:solidFill>
                <a:latin typeface="Aptos"/>
              </a:defRPr>
            </a:pPr>
          </a:p>
        </p:txBody>
      </p:sp>
      <p:sp>
        <p:nvSpPr>
          <p:cNvPr id="22" name="TextBox 21"/>
          <p:cNvSpPr txBox="1"/>
          <p:nvPr/>
        </p:nvSpPr>
        <p:spPr>
          <a:xfrm>
            <a:off x="896112" y="3246120"/>
            <a:ext cx="10424160" cy="2194560"/>
          </a:xfrm>
          <a:prstGeom prst="rect">
            <a:avLst/>
          </a:prstGeom>
          <a:noFill/>
        </p:spPr>
        <p:txBody>
          <a:bodyPr wrap="square" lIns="45720" rIns="45720">
            <a:spAutoFit/>
          </a:bodyPr>
          <a:lstStyle/>
          <a:p>
            <a:pPr>
              <a:spcAft>
                <a:spcPts val="1200"/>
              </a:spcAft>
              <a:defRPr sz="1400">
                <a:solidFill>
                  <a:srgbClr val="2B3644"/>
                </a:solidFill>
                <a:latin typeface="Aptos"/>
              </a:defRPr>
            </a:pPr>
            <a:r>
              <a:t>Report includes trends, segments, channels, transaction status and review patterns.</a:t>
            </a:r>
          </a:p>
          <a:p>
            <a:pPr>
              <a:spcAft>
                <a:spcPts val="1200"/>
              </a:spcAft>
              <a:defRPr sz="1400">
                <a:solidFill>
                  <a:srgbClr val="2B3644"/>
                </a:solidFill>
                <a:latin typeface="Aptos"/>
              </a:defRPr>
            </a:pPr>
            <a:r>
              <a:t>Four slicers checked: Customer Segment, Transaction Type, Transaction Channel and Transaction Status.</a:t>
            </a:r>
          </a:p>
          <a:p>
            <a:pPr>
              <a:spcAft>
                <a:spcPts val="1200"/>
              </a:spcAft>
              <a:defRPr sz="1400">
                <a:solidFill>
                  <a:srgbClr val="2B3644"/>
                </a:solidFill>
                <a:latin typeface="Aptos"/>
              </a:defRPr>
            </a:pPr>
            <a:r>
              <a:t>Headline KPI values checked against expected calculations.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640080" y="155448"/>
            <a:ext cx="10058400" cy="201168"/>
          </a:xfrm>
          <a:prstGeom prst="rect">
            <a:avLst/>
          </a:prstGeom>
          <a:noFill/>
        </p:spPr>
        <p:txBody>
          <a:bodyPr wrap="square" lIns="54864" rIns="54864" tIns="36576" bIns="27432">
            <a:spAutoFit/>
          </a:bodyPr>
          <a:lstStyle/>
          <a:p>
            <a:pPr>
              <a:spcAft>
                <a:spcPts val="600"/>
              </a:spcAft>
              <a:defRPr sz="900" b="1">
                <a:solidFill>
                  <a:srgbClr val="198F89"/>
                </a:solidFill>
                <a:latin typeface="Aptos"/>
              </a:defRPr>
            </a:pPr>
            <a:r>
              <a:t>09 • RECOMMENDATIONS</a:t>
            </a:r>
          </a:p>
        </p:txBody>
      </p:sp>
      <p:sp>
        <p:nvSpPr>
          <p:cNvPr id="3" name="TextBox 2"/>
          <p:cNvSpPr txBox="1"/>
          <p:nvPr/>
        </p:nvSpPr>
        <p:spPr>
          <a:xfrm>
            <a:off x="621792" y="393192"/>
            <a:ext cx="10789920" cy="530352"/>
          </a:xfrm>
          <a:prstGeom prst="rect">
            <a:avLst/>
          </a:prstGeom>
          <a:noFill/>
        </p:spPr>
        <p:txBody>
          <a:bodyPr wrap="square" lIns="54864" rIns="54864" tIns="36576" bIns="27432">
            <a:spAutoFit/>
          </a:bodyPr>
          <a:lstStyle/>
          <a:p>
            <a:pPr>
              <a:spcAft>
                <a:spcPts val="600"/>
              </a:spcAft>
              <a:defRPr sz="2700" b="1">
                <a:solidFill>
                  <a:srgbClr val="13233D"/>
                </a:solidFill>
                <a:latin typeface="Aptos"/>
              </a:defRPr>
            </a:pPr>
            <a:r>
              <a:t>Recommendations grounded in the evidence</a:t>
            </a:r>
          </a:p>
        </p:txBody>
      </p:sp>
      <p:sp>
        <p:nvSpPr>
          <p:cNvPr id="4" name="Rectangle 3"/>
          <p:cNvSpPr/>
          <p:nvPr/>
        </p:nvSpPr>
        <p:spPr>
          <a:xfrm>
            <a:off x="640080" y="987552"/>
            <a:ext cx="731520" cy="50292"/>
          </a:xfrm>
          <a:prstGeom prst="rect">
            <a:avLst/>
          </a:prstGeom>
          <a:solidFill>
            <a:srgbClr val="E8AE43"/>
          </a:solidFill>
          <a:ln>
            <a:solidFill>
              <a:srgbClr val="E8AE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92240"/>
            <a:ext cx="6400800" cy="164592"/>
          </a:xfrm>
          <a:prstGeom prst="rect">
            <a:avLst/>
          </a:prstGeom>
          <a:noFill/>
        </p:spPr>
        <p:txBody>
          <a:bodyPr wrap="square" lIns="54864" rIns="54864" tIns="36576" bIns="27432">
            <a:spAutoFit/>
          </a:bodyPr>
          <a:lstStyle/>
          <a:p>
            <a:pPr>
              <a:spcAft>
                <a:spcPts val="600"/>
              </a:spcAft>
              <a:defRPr sz="800" b="1">
                <a:solidFill>
                  <a:srgbClr val="657282"/>
                </a:solidFill>
                <a:latin typeface="Aptos"/>
              </a:defRPr>
            </a:pPr>
            <a:r>
              <a:t>ANALYSTLAB AFRICA  •  FINTRUST DATA ANALYTICS</a:t>
            </a:r>
          </a:p>
        </p:txBody>
      </p:sp>
      <p:sp>
        <p:nvSpPr>
          <p:cNvPr id="6" name="TextBox 5"/>
          <p:cNvSpPr txBox="1"/>
          <p:nvPr/>
        </p:nvSpPr>
        <p:spPr>
          <a:xfrm>
            <a:off x="11109960" y="6473952"/>
            <a:ext cx="457200" cy="182880"/>
          </a:xfrm>
          <a:prstGeom prst="rect">
            <a:avLst/>
          </a:prstGeom>
          <a:noFill/>
        </p:spPr>
        <p:txBody>
          <a:bodyPr wrap="square" lIns="54864" rIns="54864" tIns="36576" bIns="27432">
            <a:spAutoFit/>
          </a:bodyPr>
          <a:lstStyle/>
          <a:p>
            <a:pPr algn="r">
              <a:spcAft>
                <a:spcPts val="600"/>
              </a:spcAft>
              <a:defRPr sz="900" b="1">
                <a:solidFill>
                  <a:srgbClr val="657282"/>
                </a:solidFill>
                <a:latin typeface="Aptos"/>
              </a:defRPr>
            </a:pPr>
            <a:r>
              <a:t>10</a:t>
            </a:r>
          </a:p>
        </p:txBody>
      </p:sp>
      <p:sp>
        <p:nvSpPr>
          <p:cNvPr id="7" name="Rounded Rectangle 6"/>
          <p:cNvSpPr/>
          <p:nvPr/>
        </p:nvSpPr>
        <p:spPr>
          <a:xfrm>
            <a:off x="777240" y="1417320"/>
            <a:ext cx="3337560" cy="1325880"/>
          </a:xfrm>
          <a:prstGeom prst="roundRect">
            <a:avLst/>
          </a:prstGeom>
          <a:solidFill>
            <a:srgbClr val="FFFFFF"/>
          </a:solidFill>
          <a:ln>
            <a:solidFill>
              <a:srgbClr val="DD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417320"/>
            <a:ext cx="59436" cy="1325880"/>
          </a:xfrm>
          <a:prstGeom prst="rect">
            <a:avLst/>
          </a:prstGeom>
          <a:solidFill>
            <a:srgbClr val="B14344"/>
          </a:solidFill>
          <a:ln>
            <a:solidFill>
              <a:srgbClr val="B14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545336"/>
            <a:ext cx="3063240" cy="219456"/>
          </a:xfrm>
          <a:prstGeom prst="rect">
            <a:avLst/>
          </a:prstGeom>
          <a:noFill/>
        </p:spPr>
        <p:txBody>
          <a:bodyPr wrap="square" lIns="54864" rIns="54864" tIns="36576" bIns="27432">
            <a:spAutoFit/>
          </a:bodyPr>
          <a:lstStyle/>
          <a:p>
            <a:pPr>
              <a:spcAft>
                <a:spcPts val="600"/>
              </a:spcAft>
              <a:defRPr sz="900" b="1">
                <a:solidFill>
                  <a:srgbClr val="657282"/>
                </a:solidFill>
                <a:latin typeface="Aptos"/>
              </a:defRPr>
            </a:pPr>
            <a:r>
              <a:t>01</a:t>
            </a:r>
          </a:p>
        </p:txBody>
      </p:sp>
      <p:sp>
        <p:nvSpPr>
          <p:cNvPr id="10" name="TextBox 9"/>
          <p:cNvSpPr txBox="1"/>
          <p:nvPr/>
        </p:nvSpPr>
        <p:spPr>
          <a:xfrm>
            <a:off x="941832" y="1847088"/>
            <a:ext cx="3063240" cy="457200"/>
          </a:xfrm>
          <a:prstGeom prst="rect">
            <a:avLst/>
          </a:prstGeom>
          <a:noFill/>
        </p:spPr>
        <p:txBody>
          <a:bodyPr wrap="square" lIns="54864" rIns="54864" tIns="36576" bIns="27432">
            <a:spAutoFit/>
          </a:bodyPr>
          <a:lstStyle/>
          <a:p>
            <a:pPr>
              <a:spcAft>
                <a:spcPts val="600"/>
              </a:spcAft>
              <a:defRPr sz="2200" b="1">
                <a:solidFill>
                  <a:srgbClr val="13233D"/>
                </a:solidFill>
                <a:latin typeface="Aptos"/>
              </a:defRPr>
            </a:pPr>
            <a:r>
              <a:t>Review international flags</a:t>
            </a:r>
          </a:p>
        </p:txBody>
      </p:sp>
      <p:sp>
        <p:nvSpPr>
          <p:cNvPr id="11" name="TextBox 10"/>
          <p:cNvSpPr txBox="1"/>
          <p:nvPr/>
        </p:nvSpPr>
        <p:spPr>
          <a:xfrm>
            <a:off x="941832" y="2404872"/>
            <a:ext cx="3063240" cy="201168"/>
          </a:xfrm>
          <a:prstGeom prst="rect">
            <a:avLst/>
          </a:prstGeom>
          <a:noFill/>
        </p:spPr>
        <p:txBody>
          <a:bodyPr wrap="square" lIns="54864" rIns="54864" tIns="36576" bIns="27432">
            <a:spAutoFit/>
          </a:bodyPr>
          <a:lstStyle/>
          <a:p>
            <a:pPr>
              <a:spcAft>
                <a:spcPts val="600"/>
              </a:spcAft>
              <a:defRPr sz="900" b="0">
                <a:solidFill>
                  <a:srgbClr val="657282"/>
                </a:solidFill>
                <a:latin typeface="Aptos"/>
              </a:defRPr>
            </a:pPr>
            <a:r>
              <a:t>Assess review rules by transaction type and customer impact.</a:t>
            </a:r>
          </a:p>
        </p:txBody>
      </p:sp>
      <p:sp>
        <p:nvSpPr>
          <p:cNvPr id="12" name="Rounded Rectangle 11"/>
          <p:cNvSpPr/>
          <p:nvPr/>
        </p:nvSpPr>
        <p:spPr>
          <a:xfrm>
            <a:off x="4480559" y="1417320"/>
            <a:ext cx="3337560" cy="1325880"/>
          </a:xfrm>
          <a:prstGeom prst="roundRect">
            <a:avLst/>
          </a:prstGeom>
          <a:solidFill>
            <a:srgbClr val="FFFFFF"/>
          </a:solidFill>
          <a:ln>
            <a:solidFill>
              <a:srgbClr val="DD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59" y="1417320"/>
            <a:ext cx="59436" cy="1325880"/>
          </a:xfrm>
          <a:prstGeom prst="rect">
            <a:avLst/>
          </a:prstGeom>
          <a:solidFill>
            <a:srgbClr val="2C64AB"/>
          </a:solidFill>
          <a:ln>
            <a:solidFill>
              <a:srgbClr val="2C64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45151" y="1545336"/>
            <a:ext cx="3063240" cy="219456"/>
          </a:xfrm>
          <a:prstGeom prst="rect">
            <a:avLst/>
          </a:prstGeom>
          <a:noFill/>
        </p:spPr>
        <p:txBody>
          <a:bodyPr wrap="square" lIns="54864" rIns="54864" tIns="36576" bIns="27432">
            <a:spAutoFit/>
          </a:bodyPr>
          <a:lstStyle/>
          <a:p>
            <a:pPr>
              <a:spcAft>
                <a:spcPts val="600"/>
              </a:spcAft>
              <a:defRPr sz="900" b="1">
                <a:solidFill>
                  <a:srgbClr val="657282"/>
                </a:solidFill>
                <a:latin typeface="Aptos"/>
              </a:defRPr>
            </a:pPr>
            <a:r>
              <a:t>02</a:t>
            </a:r>
          </a:p>
        </p:txBody>
      </p:sp>
      <p:sp>
        <p:nvSpPr>
          <p:cNvPr id="15" name="TextBox 14"/>
          <p:cNvSpPr txBox="1"/>
          <p:nvPr/>
        </p:nvSpPr>
        <p:spPr>
          <a:xfrm>
            <a:off x="4645151" y="1847088"/>
            <a:ext cx="3063240" cy="457200"/>
          </a:xfrm>
          <a:prstGeom prst="rect">
            <a:avLst/>
          </a:prstGeom>
          <a:noFill/>
        </p:spPr>
        <p:txBody>
          <a:bodyPr wrap="square" lIns="54864" rIns="54864" tIns="36576" bIns="27432">
            <a:spAutoFit/>
          </a:bodyPr>
          <a:lstStyle/>
          <a:p>
            <a:pPr>
              <a:spcAft>
                <a:spcPts val="600"/>
              </a:spcAft>
              <a:defRPr sz="2200" b="1">
                <a:solidFill>
                  <a:srgbClr val="13233D"/>
                </a:solidFill>
                <a:latin typeface="Aptos"/>
              </a:defRPr>
            </a:pPr>
            <a:r>
              <a:t>Investigate unsuccessful journeys</a:t>
            </a:r>
          </a:p>
        </p:txBody>
      </p:sp>
      <p:sp>
        <p:nvSpPr>
          <p:cNvPr id="16" name="TextBox 15"/>
          <p:cNvSpPr txBox="1"/>
          <p:nvPr/>
        </p:nvSpPr>
        <p:spPr>
          <a:xfrm>
            <a:off x="4645151" y="2404872"/>
            <a:ext cx="3063240" cy="201168"/>
          </a:xfrm>
          <a:prstGeom prst="rect">
            <a:avLst/>
          </a:prstGeom>
          <a:noFill/>
        </p:spPr>
        <p:txBody>
          <a:bodyPr wrap="square" lIns="54864" rIns="54864" tIns="36576" bIns="27432">
            <a:spAutoFit/>
          </a:bodyPr>
          <a:lstStyle/>
          <a:p>
            <a:pPr>
              <a:spcAft>
                <a:spcPts val="600"/>
              </a:spcAft>
              <a:defRPr sz="900" b="0">
                <a:solidFill>
                  <a:srgbClr val="657282"/>
                </a:solidFill>
                <a:latin typeface="Aptos"/>
              </a:defRPr>
            </a:pPr>
            <a:r>
              <a:t>Prioritise Transfer and Card Purchase on Mobile App; compare counts and rates.</a:t>
            </a:r>
          </a:p>
        </p:txBody>
      </p:sp>
      <p:sp>
        <p:nvSpPr>
          <p:cNvPr id="17" name="Rounded Rectangle 16"/>
          <p:cNvSpPr/>
          <p:nvPr/>
        </p:nvSpPr>
        <p:spPr>
          <a:xfrm>
            <a:off x="8183879" y="1417320"/>
            <a:ext cx="3337560" cy="1325880"/>
          </a:xfrm>
          <a:prstGeom prst="roundRect">
            <a:avLst/>
          </a:prstGeom>
          <a:solidFill>
            <a:srgbClr val="FFFFFF"/>
          </a:solidFill>
          <a:ln>
            <a:solidFill>
              <a:srgbClr val="DD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83879" y="1417320"/>
            <a:ext cx="59436" cy="1325880"/>
          </a:xfrm>
          <a:prstGeom prst="rect">
            <a:avLst/>
          </a:prstGeom>
          <a:solidFill>
            <a:srgbClr val="E8AE43"/>
          </a:solidFill>
          <a:ln>
            <a:solidFill>
              <a:srgbClr val="E8AE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48471" y="1545336"/>
            <a:ext cx="3063240" cy="219456"/>
          </a:xfrm>
          <a:prstGeom prst="rect">
            <a:avLst/>
          </a:prstGeom>
          <a:noFill/>
        </p:spPr>
        <p:txBody>
          <a:bodyPr wrap="square" lIns="54864" rIns="54864" tIns="36576" bIns="27432">
            <a:spAutoFit/>
          </a:bodyPr>
          <a:lstStyle/>
          <a:p>
            <a:pPr>
              <a:spcAft>
                <a:spcPts val="600"/>
              </a:spcAft>
              <a:defRPr sz="900" b="1">
                <a:solidFill>
                  <a:srgbClr val="657282"/>
                </a:solidFill>
                <a:latin typeface="Aptos"/>
              </a:defRPr>
            </a:pPr>
            <a:r>
              <a:t>03</a:t>
            </a:r>
          </a:p>
        </p:txBody>
      </p:sp>
      <p:sp>
        <p:nvSpPr>
          <p:cNvPr id="20" name="TextBox 19"/>
          <p:cNvSpPr txBox="1"/>
          <p:nvPr/>
        </p:nvSpPr>
        <p:spPr>
          <a:xfrm>
            <a:off x="8348471" y="1847088"/>
            <a:ext cx="3063240" cy="457200"/>
          </a:xfrm>
          <a:prstGeom prst="rect">
            <a:avLst/>
          </a:prstGeom>
          <a:noFill/>
        </p:spPr>
        <p:txBody>
          <a:bodyPr wrap="square" lIns="54864" rIns="54864" tIns="36576" bIns="27432">
            <a:spAutoFit/>
          </a:bodyPr>
          <a:lstStyle/>
          <a:p>
            <a:pPr>
              <a:spcAft>
                <a:spcPts val="600"/>
              </a:spcAft>
              <a:defRPr sz="2200" b="1">
                <a:solidFill>
                  <a:srgbClr val="13233D"/>
                </a:solidFill>
                <a:latin typeface="Aptos"/>
              </a:defRPr>
            </a:pPr>
            <a:r>
              <a:t>Monitor high-value transactions</a:t>
            </a:r>
          </a:p>
        </p:txBody>
      </p:sp>
      <p:sp>
        <p:nvSpPr>
          <p:cNvPr id="21" name="TextBox 20"/>
          <p:cNvSpPr txBox="1"/>
          <p:nvPr/>
        </p:nvSpPr>
        <p:spPr>
          <a:xfrm>
            <a:off x="8348471" y="2404872"/>
            <a:ext cx="3063240" cy="201168"/>
          </a:xfrm>
          <a:prstGeom prst="rect">
            <a:avLst/>
          </a:prstGeom>
          <a:noFill/>
        </p:spPr>
        <p:txBody>
          <a:bodyPr wrap="square" lIns="54864" rIns="54864" tIns="36576" bIns="27432">
            <a:spAutoFit/>
          </a:bodyPr>
          <a:lstStyle/>
          <a:p>
            <a:pPr>
              <a:spcAft>
                <a:spcPts val="600"/>
              </a:spcAft>
              <a:defRPr sz="900" b="0">
                <a:solidFill>
                  <a:srgbClr val="657282"/>
                </a:solidFill>
                <a:latin typeface="Aptos"/>
              </a:defRPr>
            </a:pPr>
            <a:r>
              <a:t>Track service outcomes for transactions accounting for a large share of value.</a:t>
            </a:r>
          </a:p>
        </p:txBody>
      </p:sp>
      <p:sp>
        <p:nvSpPr>
          <p:cNvPr id="22" name="TextBox 21"/>
          <p:cNvSpPr txBox="1"/>
          <p:nvPr/>
        </p:nvSpPr>
        <p:spPr>
          <a:xfrm>
            <a:off x="896112" y="3246120"/>
            <a:ext cx="10424160" cy="2194560"/>
          </a:xfrm>
          <a:prstGeom prst="rect">
            <a:avLst/>
          </a:prstGeom>
          <a:noFill/>
        </p:spPr>
        <p:txBody>
          <a:bodyPr wrap="square" lIns="45720" rIns="45720">
            <a:spAutoFit/>
          </a:bodyPr>
          <a:lstStyle/>
          <a:p>
            <a:pPr>
              <a:spcAft>
                <a:spcPts val="1200"/>
              </a:spcAft>
              <a:defRPr sz="1400">
                <a:solidFill>
                  <a:srgbClr val="2B3644"/>
                </a:solidFill>
                <a:latin typeface="Aptos"/>
              </a:defRPr>
            </a:pPr>
            <a:r>
              <a:t>Maintain consistent KPI definitions across SQL, Python and Power BI.</a:t>
            </a:r>
          </a:p>
          <a:p>
            <a:pPr>
              <a:spcAft>
                <a:spcPts val="1200"/>
              </a:spcAft>
              <a:defRPr sz="1400">
                <a:solidFill>
                  <a:srgbClr val="2B3644"/>
                </a:solidFill>
                <a:latin typeface="Aptos"/>
              </a:defRPr>
            </a:pPr>
            <a:r>
              <a:t>Evaluate potential false positives before changing controls.</a:t>
            </a:r>
          </a:p>
          <a:p>
            <a:pPr>
              <a:spcAft>
                <a:spcPts val="1200"/>
              </a:spcAft>
              <a:defRPr sz="1400">
                <a:solidFill>
                  <a:srgbClr val="2B3644"/>
                </a:solidFill>
                <a:latin typeface="Aptos"/>
              </a:defRPr>
            </a:pPr>
            <a:r>
              <a:t>Use the evidence to prioritise further investigation.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640080" y="155448"/>
            <a:ext cx="10058400" cy="201168"/>
          </a:xfrm>
          <a:prstGeom prst="rect">
            <a:avLst/>
          </a:prstGeom>
          <a:noFill/>
        </p:spPr>
        <p:txBody>
          <a:bodyPr wrap="square" lIns="54864" rIns="54864" tIns="36576" bIns="27432">
            <a:spAutoFit/>
          </a:bodyPr>
          <a:lstStyle/>
          <a:p>
            <a:pPr>
              <a:spcAft>
                <a:spcPts val="600"/>
              </a:spcAft>
              <a:defRPr sz="900" b="1">
                <a:solidFill>
                  <a:srgbClr val="198F89"/>
                </a:solidFill>
                <a:latin typeface="Aptos"/>
              </a:defRPr>
            </a:pPr>
            <a:r>
              <a:t>10 • INTEGRATION &amp; PROFESSIONAL PRACTICE</a:t>
            </a:r>
          </a:p>
        </p:txBody>
      </p:sp>
      <p:sp>
        <p:nvSpPr>
          <p:cNvPr id="3" name="TextBox 2"/>
          <p:cNvSpPr txBox="1"/>
          <p:nvPr/>
        </p:nvSpPr>
        <p:spPr>
          <a:xfrm>
            <a:off x="621792" y="393192"/>
            <a:ext cx="10789920" cy="530352"/>
          </a:xfrm>
          <a:prstGeom prst="rect">
            <a:avLst/>
          </a:prstGeom>
          <a:noFill/>
        </p:spPr>
        <p:txBody>
          <a:bodyPr wrap="square" lIns="54864" rIns="54864" tIns="36576" bIns="27432">
            <a:spAutoFit/>
          </a:bodyPr>
          <a:lstStyle/>
          <a:p>
            <a:pPr>
              <a:spcAft>
                <a:spcPts val="600"/>
              </a:spcAft>
              <a:defRPr sz="2700" b="1">
                <a:solidFill>
                  <a:srgbClr val="13233D"/>
                </a:solidFill>
                <a:latin typeface="Aptos"/>
              </a:defRPr>
            </a:pPr>
            <a:r>
              <a:t>A foundation for wider analytics</a:t>
            </a:r>
          </a:p>
        </p:txBody>
      </p:sp>
      <p:sp>
        <p:nvSpPr>
          <p:cNvPr id="4" name="Rectangle 3"/>
          <p:cNvSpPr/>
          <p:nvPr/>
        </p:nvSpPr>
        <p:spPr>
          <a:xfrm>
            <a:off x="640080" y="987552"/>
            <a:ext cx="731520" cy="50292"/>
          </a:xfrm>
          <a:prstGeom prst="rect">
            <a:avLst/>
          </a:prstGeom>
          <a:solidFill>
            <a:srgbClr val="E8AE43"/>
          </a:solidFill>
          <a:ln>
            <a:solidFill>
              <a:srgbClr val="E8AE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92240"/>
            <a:ext cx="6400800" cy="164592"/>
          </a:xfrm>
          <a:prstGeom prst="rect">
            <a:avLst/>
          </a:prstGeom>
          <a:noFill/>
        </p:spPr>
        <p:txBody>
          <a:bodyPr wrap="square" lIns="54864" rIns="54864" tIns="36576" bIns="27432">
            <a:spAutoFit/>
          </a:bodyPr>
          <a:lstStyle/>
          <a:p>
            <a:pPr>
              <a:spcAft>
                <a:spcPts val="600"/>
              </a:spcAft>
              <a:defRPr sz="800" b="1">
                <a:solidFill>
                  <a:srgbClr val="657282"/>
                </a:solidFill>
                <a:latin typeface="Aptos"/>
              </a:defRPr>
            </a:pPr>
            <a:r>
              <a:t>ANALYSTLAB AFRICA  •  FINTRUST DATA ANALYTICS</a:t>
            </a:r>
          </a:p>
        </p:txBody>
      </p:sp>
      <p:sp>
        <p:nvSpPr>
          <p:cNvPr id="6" name="TextBox 5"/>
          <p:cNvSpPr txBox="1"/>
          <p:nvPr/>
        </p:nvSpPr>
        <p:spPr>
          <a:xfrm>
            <a:off x="11109960" y="6473952"/>
            <a:ext cx="457200" cy="182880"/>
          </a:xfrm>
          <a:prstGeom prst="rect">
            <a:avLst/>
          </a:prstGeom>
          <a:noFill/>
        </p:spPr>
        <p:txBody>
          <a:bodyPr wrap="square" lIns="54864" rIns="54864" tIns="36576" bIns="27432">
            <a:spAutoFit/>
          </a:bodyPr>
          <a:lstStyle/>
          <a:p>
            <a:pPr algn="r">
              <a:spcAft>
                <a:spcPts val="600"/>
              </a:spcAft>
              <a:defRPr sz="900" b="1">
                <a:solidFill>
                  <a:srgbClr val="657282"/>
                </a:solidFill>
                <a:latin typeface="Aptos"/>
              </a:defRPr>
            </a:pPr>
            <a:r>
              <a:t>11</a:t>
            </a:r>
          </a:p>
        </p:txBody>
      </p:sp>
      <p:sp>
        <p:nvSpPr>
          <p:cNvPr id="7" name="Rounded Rectangle 6"/>
          <p:cNvSpPr/>
          <p:nvPr/>
        </p:nvSpPr>
        <p:spPr>
          <a:xfrm>
            <a:off x="777240" y="1417320"/>
            <a:ext cx="3337560" cy="1325880"/>
          </a:xfrm>
          <a:prstGeom prst="roundRect">
            <a:avLst/>
          </a:prstGeom>
          <a:solidFill>
            <a:srgbClr val="FFFFFF"/>
          </a:solidFill>
          <a:ln>
            <a:solidFill>
              <a:srgbClr val="DD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417320"/>
            <a:ext cx="59436" cy="1325880"/>
          </a:xfrm>
          <a:prstGeom prst="rect">
            <a:avLst/>
          </a:prstGeom>
          <a:solidFill>
            <a:srgbClr val="2C64AB"/>
          </a:solidFill>
          <a:ln>
            <a:solidFill>
              <a:srgbClr val="2C64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545336"/>
            <a:ext cx="3063240" cy="219456"/>
          </a:xfrm>
          <a:prstGeom prst="rect">
            <a:avLst/>
          </a:prstGeom>
          <a:noFill/>
        </p:spPr>
        <p:txBody>
          <a:bodyPr wrap="square" lIns="54864" rIns="54864" tIns="36576" bIns="27432">
            <a:spAutoFit/>
          </a:bodyPr>
          <a:lstStyle/>
          <a:p>
            <a:pPr>
              <a:spcAft>
                <a:spcPts val="600"/>
              </a:spcAft>
              <a:defRPr sz="900" b="1">
                <a:solidFill>
                  <a:srgbClr val="657282"/>
                </a:solidFill>
                <a:latin typeface="Aptos"/>
              </a:defRPr>
            </a:pPr>
            <a:r>
              <a:t>ANALYTICS</a:t>
            </a:r>
          </a:p>
        </p:txBody>
      </p:sp>
      <p:sp>
        <p:nvSpPr>
          <p:cNvPr id="10" name="TextBox 9"/>
          <p:cNvSpPr txBox="1"/>
          <p:nvPr/>
        </p:nvSpPr>
        <p:spPr>
          <a:xfrm>
            <a:off x="941832" y="1847088"/>
            <a:ext cx="3063240" cy="457200"/>
          </a:xfrm>
          <a:prstGeom prst="rect">
            <a:avLst/>
          </a:prstGeom>
          <a:noFill/>
        </p:spPr>
        <p:txBody>
          <a:bodyPr wrap="square" lIns="54864" rIns="54864" tIns="36576" bIns="27432">
            <a:spAutoFit/>
          </a:bodyPr>
          <a:lstStyle/>
          <a:p>
            <a:pPr>
              <a:spcAft>
                <a:spcPts val="600"/>
              </a:spcAft>
              <a:defRPr sz="2200" b="1">
                <a:solidFill>
                  <a:srgbClr val="13233D"/>
                </a:solidFill>
                <a:latin typeface="Aptos"/>
              </a:defRPr>
            </a:pPr>
            <a:r>
              <a:t>Validated view</a:t>
            </a:r>
          </a:p>
        </p:txBody>
      </p:sp>
      <p:sp>
        <p:nvSpPr>
          <p:cNvPr id="11" name="TextBox 10"/>
          <p:cNvSpPr txBox="1"/>
          <p:nvPr/>
        </p:nvSpPr>
        <p:spPr>
          <a:xfrm>
            <a:off x="941832" y="2404872"/>
            <a:ext cx="3063240" cy="201168"/>
          </a:xfrm>
          <a:prstGeom prst="rect">
            <a:avLst/>
          </a:prstGeom>
          <a:noFill/>
        </p:spPr>
        <p:txBody>
          <a:bodyPr wrap="square" lIns="54864" rIns="54864" tIns="36576" bIns="27432">
            <a:spAutoFit/>
          </a:bodyPr>
          <a:lstStyle/>
          <a:p>
            <a:pPr>
              <a:spcAft>
                <a:spcPts val="600"/>
              </a:spcAft>
              <a:defRPr sz="900" b="0">
                <a:solidFill>
                  <a:srgbClr val="657282"/>
                </a:solidFill>
                <a:latin typeface="Aptos"/>
              </a:defRPr>
            </a:pPr>
            <a:r>
              <a:t>Customer and transaction activity</a:t>
            </a:r>
          </a:p>
        </p:txBody>
      </p:sp>
      <p:sp>
        <p:nvSpPr>
          <p:cNvPr id="12" name="Rounded Rectangle 11"/>
          <p:cNvSpPr/>
          <p:nvPr/>
        </p:nvSpPr>
        <p:spPr>
          <a:xfrm>
            <a:off x="4480559" y="1417320"/>
            <a:ext cx="3337560" cy="1325880"/>
          </a:xfrm>
          <a:prstGeom prst="roundRect">
            <a:avLst/>
          </a:prstGeom>
          <a:solidFill>
            <a:srgbClr val="FFFFFF"/>
          </a:solidFill>
          <a:ln>
            <a:solidFill>
              <a:srgbClr val="DD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59" y="1417320"/>
            <a:ext cx="59436" cy="1325880"/>
          </a:xfrm>
          <a:prstGeom prst="rect">
            <a:avLst/>
          </a:prstGeom>
          <a:solidFill>
            <a:srgbClr val="198F89"/>
          </a:solidFill>
          <a:ln>
            <a:solidFill>
              <a:srgbClr val="198F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45151" y="1545336"/>
            <a:ext cx="3063240" cy="219456"/>
          </a:xfrm>
          <a:prstGeom prst="rect">
            <a:avLst/>
          </a:prstGeom>
          <a:noFill/>
        </p:spPr>
        <p:txBody>
          <a:bodyPr wrap="square" lIns="54864" rIns="54864" tIns="36576" bIns="27432">
            <a:spAutoFit/>
          </a:bodyPr>
          <a:lstStyle/>
          <a:p>
            <a:pPr>
              <a:spcAft>
                <a:spcPts val="600"/>
              </a:spcAft>
              <a:defRPr sz="900" b="1">
                <a:solidFill>
                  <a:srgbClr val="657282"/>
                </a:solidFill>
                <a:latin typeface="Aptos"/>
              </a:defRPr>
            </a:pPr>
            <a:r>
              <a:t>RISK INTELLIGENCE</a:t>
            </a:r>
          </a:p>
        </p:txBody>
      </p:sp>
      <p:sp>
        <p:nvSpPr>
          <p:cNvPr id="15" name="TextBox 14"/>
          <p:cNvSpPr txBox="1"/>
          <p:nvPr/>
        </p:nvSpPr>
        <p:spPr>
          <a:xfrm>
            <a:off x="4645151" y="1847088"/>
            <a:ext cx="3063240" cy="457200"/>
          </a:xfrm>
          <a:prstGeom prst="rect">
            <a:avLst/>
          </a:prstGeom>
          <a:noFill/>
        </p:spPr>
        <p:txBody>
          <a:bodyPr wrap="square" lIns="54864" rIns="54864" tIns="36576" bIns="27432">
            <a:spAutoFit/>
          </a:bodyPr>
          <a:lstStyle/>
          <a:p>
            <a:pPr>
              <a:spcAft>
                <a:spcPts val="600"/>
              </a:spcAft>
              <a:defRPr sz="2200" b="1">
                <a:solidFill>
                  <a:srgbClr val="13233D"/>
                </a:solidFill>
                <a:latin typeface="Aptos"/>
              </a:defRPr>
            </a:pPr>
            <a:r>
              <a:t>Potential input</a:t>
            </a:r>
          </a:p>
        </p:txBody>
      </p:sp>
      <p:sp>
        <p:nvSpPr>
          <p:cNvPr id="16" name="TextBox 15"/>
          <p:cNvSpPr txBox="1"/>
          <p:nvPr/>
        </p:nvSpPr>
        <p:spPr>
          <a:xfrm>
            <a:off x="4645151" y="2404872"/>
            <a:ext cx="3063240" cy="201168"/>
          </a:xfrm>
          <a:prstGeom prst="rect">
            <a:avLst/>
          </a:prstGeom>
          <a:noFill/>
        </p:spPr>
        <p:txBody>
          <a:bodyPr wrap="square" lIns="54864" rIns="54864" tIns="36576" bIns="27432">
            <a:spAutoFit/>
          </a:bodyPr>
          <a:lstStyle/>
          <a:p>
            <a:pPr>
              <a:spcAft>
                <a:spcPts val="600"/>
              </a:spcAft>
              <a:defRPr sz="900" b="0">
                <a:solidFill>
                  <a:srgbClr val="657282"/>
                </a:solidFill>
                <a:latin typeface="Aptos"/>
              </a:defRPr>
            </a:pPr>
            <a:r>
              <a:t>Evidence for future risk modelling</a:t>
            </a:r>
          </a:p>
        </p:txBody>
      </p:sp>
      <p:sp>
        <p:nvSpPr>
          <p:cNvPr id="17" name="Rounded Rectangle 16"/>
          <p:cNvSpPr/>
          <p:nvPr/>
        </p:nvSpPr>
        <p:spPr>
          <a:xfrm>
            <a:off x="8183879" y="1417320"/>
            <a:ext cx="3337560" cy="1325880"/>
          </a:xfrm>
          <a:prstGeom prst="roundRect">
            <a:avLst/>
          </a:prstGeom>
          <a:solidFill>
            <a:srgbClr val="FFFFFF"/>
          </a:solidFill>
          <a:ln>
            <a:solidFill>
              <a:srgbClr val="DD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83879" y="1417320"/>
            <a:ext cx="59436" cy="1325880"/>
          </a:xfrm>
          <a:prstGeom prst="rect">
            <a:avLst/>
          </a:prstGeom>
          <a:solidFill>
            <a:srgbClr val="E8AE43"/>
          </a:solidFill>
          <a:ln>
            <a:solidFill>
              <a:srgbClr val="E8AE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48471" y="1545336"/>
            <a:ext cx="3063240" cy="219456"/>
          </a:xfrm>
          <a:prstGeom prst="rect">
            <a:avLst/>
          </a:prstGeom>
          <a:noFill/>
        </p:spPr>
        <p:txBody>
          <a:bodyPr wrap="square" lIns="54864" rIns="54864" tIns="36576" bIns="27432">
            <a:spAutoFit/>
          </a:bodyPr>
          <a:lstStyle/>
          <a:p>
            <a:pPr>
              <a:spcAft>
                <a:spcPts val="600"/>
              </a:spcAft>
              <a:defRPr sz="900" b="1">
                <a:solidFill>
                  <a:srgbClr val="657282"/>
                </a:solidFill>
                <a:latin typeface="Aptos"/>
              </a:defRPr>
            </a:pPr>
            <a:r>
              <a:t>DOCUMENTATION</a:t>
            </a:r>
          </a:p>
        </p:txBody>
      </p:sp>
      <p:sp>
        <p:nvSpPr>
          <p:cNvPr id="20" name="TextBox 19"/>
          <p:cNvSpPr txBox="1"/>
          <p:nvPr/>
        </p:nvSpPr>
        <p:spPr>
          <a:xfrm>
            <a:off x="8348471" y="1847088"/>
            <a:ext cx="3063240" cy="457200"/>
          </a:xfrm>
          <a:prstGeom prst="rect">
            <a:avLst/>
          </a:prstGeom>
          <a:noFill/>
        </p:spPr>
        <p:txBody>
          <a:bodyPr wrap="square" lIns="54864" rIns="54864" tIns="36576" bIns="27432">
            <a:spAutoFit/>
          </a:bodyPr>
          <a:lstStyle/>
          <a:p>
            <a:pPr>
              <a:spcAft>
                <a:spcPts val="600"/>
              </a:spcAft>
              <a:defRPr sz="2200" b="1">
                <a:solidFill>
                  <a:srgbClr val="13233D"/>
                </a:solidFill>
                <a:latin typeface="Aptos"/>
              </a:defRPr>
            </a:pPr>
            <a:r>
              <a:t>Reusable output</a:t>
            </a:r>
          </a:p>
        </p:txBody>
      </p:sp>
      <p:sp>
        <p:nvSpPr>
          <p:cNvPr id="21" name="TextBox 20"/>
          <p:cNvSpPr txBox="1"/>
          <p:nvPr/>
        </p:nvSpPr>
        <p:spPr>
          <a:xfrm>
            <a:off x="8348471" y="2404872"/>
            <a:ext cx="3063240" cy="201168"/>
          </a:xfrm>
          <a:prstGeom prst="rect">
            <a:avLst/>
          </a:prstGeom>
          <a:noFill/>
        </p:spPr>
        <p:txBody>
          <a:bodyPr wrap="square" lIns="54864" rIns="54864" tIns="36576" bIns="27432">
            <a:spAutoFit/>
          </a:bodyPr>
          <a:lstStyle/>
          <a:p>
            <a:pPr>
              <a:spcAft>
                <a:spcPts val="600"/>
              </a:spcAft>
              <a:defRPr sz="900" b="0">
                <a:solidFill>
                  <a:srgbClr val="657282"/>
                </a:solidFill>
                <a:latin typeface="Aptos"/>
              </a:defRPr>
            </a:pPr>
            <a:r>
              <a:t>KPIs, findings and limitations</a:t>
            </a:r>
          </a:p>
        </p:txBody>
      </p:sp>
      <p:sp>
        <p:nvSpPr>
          <p:cNvPr id="22" name="TextBox 21"/>
          <p:cNvSpPr txBox="1"/>
          <p:nvPr/>
        </p:nvSpPr>
        <p:spPr>
          <a:xfrm>
            <a:off x="896112" y="3246120"/>
            <a:ext cx="10424160" cy="2194560"/>
          </a:xfrm>
          <a:prstGeom prst="rect">
            <a:avLst/>
          </a:prstGeom>
          <a:noFill/>
        </p:spPr>
        <p:txBody>
          <a:bodyPr wrap="square" lIns="45720" rIns="45720">
            <a:spAutoFit/>
          </a:bodyPr>
          <a:lstStyle/>
          <a:p>
            <a:pPr>
              <a:spcAft>
                <a:spcPts val="1200"/>
              </a:spcAft>
              <a:defRPr sz="1400">
                <a:solidFill>
                  <a:srgbClr val="2B3644"/>
                </a:solidFill>
                <a:latin typeface="Aptos"/>
              </a:defRPr>
            </a:pPr>
            <a:r>
              <a:t>The wider pathway can extend from analytics to predictive risk intelligence, ML workflows and knowledge-based GenAI.</a:t>
            </a:r>
          </a:p>
          <a:p>
            <a:pPr>
              <a:spcAft>
                <a:spcPts val="1200"/>
              </a:spcAft>
              <a:defRPr sz="1400">
                <a:solidFill>
                  <a:srgbClr val="2B3644"/>
                </a:solidFill>
                <a:latin typeface="Aptos"/>
              </a:defRPr>
            </a:pPr>
            <a:r>
              <a:t>This project provides the analytical foundation; it does not claim a completed technical integration.</a:t>
            </a:r>
          </a:p>
          <a:p>
            <a:pPr>
              <a:spcAft>
                <a:spcPts val="1200"/>
              </a:spcAft>
              <a:defRPr sz="1400">
                <a:solidFill>
                  <a:srgbClr val="2B3644"/>
                </a:solidFill>
                <a:latin typeface="Aptos"/>
              </a:defRPr>
            </a:pPr>
            <a:r>
              <a:t>Final artefacts and professional updates form part of the Week 4 wrap-up.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3233D"/>
        </a:solidFill>
        <a:effectLst/>
      </p:bgPr>
    </p:bg>
    <p:spTree>
      <p:nvGrpSpPr>
        <p:cNvPr id="1" name=""/>
        <p:cNvGrpSpPr/>
        <p:nvPr/>
      </p:nvGrpSpPr>
      <p:grpSpPr/>
      <p:sp>
        <p:nvSpPr>
          <p:cNvPr id="2" name="TextBox 1"/>
          <p:cNvSpPr txBox="1"/>
          <p:nvPr/>
        </p:nvSpPr>
        <p:spPr>
          <a:xfrm>
            <a:off x="822960" y="566928"/>
            <a:ext cx="5029200" cy="274320"/>
          </a:xfrm>
          <a:prstGeom prst="rect">
            <a:avLst/>
          </a:prstGeom>
          <a:noFill/>
        </p:spPr>
        <p:txBody>
          <a:bodyPr wrap="square" lIns="54864" rIns="54864" tIns="36576" bIns="27432">
            <a:spAutoFit/>
          </a:bodyPr>
          <a:lstStyle/>
          <a:p>
            <a:pPr>
              <a:spcAft>
                <a:spcPts val="600"/>
              </a:spcAft>
              <a:defRPr sz="1000" b="1">
                <a:solidFill>
                  <a:srgbClr val="198F89"/>
                </a:solidFill>
                <a:latin typeface="Aptos"/>
              </a:defRPr>
            </a:pPr>
            <a:r>
              <a:t>11 • CONCLUSION</a:t>
            </a:r>
          </a:p>
        </p:txBody>
      </p:sp>
      <p:sp>
        <p:nvSpPr>
          <p:cNvPr id="3" name="TextBox 2"/>
          <p:cNvSpPr txBox="1"/>
          <p:nvPr/>
        </p:nvSpPr>
        <p:spPr>
          <a:xfrm>
            <a:off x="822960" y="1078992"/>
            <a:ext cx="10515600" cy="685800"/>
          </a:xfrm>
          <a:prstGeom prst="rect">
            <a:avLst/>
          </a:prstGeom>
          <a:noFill/>
        </p:spPr>
        <p:txBody>
          <a:bodyPr wrap="square" lIns="54864" rIns="54864" tIns="36576" bIns="27432">
            <a:spAutoFit/>
          </a:bodyPr>
          <a:lstStyle/>
          <a:p>
            <a:pPr>
              <a:spcAft>
                <a:spcPts val="600"/>
              </a:spcAft>
              <a:defRPr sz="3000" b="1">
                <a:solidFill>
                  <a:srgbClr val="FFFFFF"/>
                </a:solidFill>
                <a:latin typeface="Aptos"/>
              </a:defRPr>
            </a:pPr>
            <a:r>
              <a:t>From data checks to decisions</a:t>
            </a:r>
          </a:p>
        </p:txBody>
      </p:sp>
      <p:sp>
        <p:nvSpPr>
          <p:cNvPr id="4" name="TextBox 3"/>
          <p:cNvSpPr txBox="1"/>
          <p:nvPr/>
        </p:nvSpPr>
        <p:spPr>
          <a:xfrm>
            <a:off x="868680" y="2057400"/>
            <a:ext cx="4572000" cy="320040"/>
          </a:xfrm>
          <a:prstGeom prst="rect">
            <a:avLst/>
          </a:prstGeom>
          <a:noFill/>
        </p:spPr>
        <p:txBody>
          <a:bodyPr wrap="square" lIns="54864" rIns="54864" tIns="36576" bIns="27432">
            <a:spAutoFit/>
          </a:bodyPr>
          <a:lstStyle/>
          <a:p>
            <a:pPr>
              <a:spcAft>
                <a:spcPts val="600"/>
              </a:spcAft>
              <a:defRPr sz="1600" b="1">
                <a:solidFill>
                  <a:srgbClr val="E8AE43"/>
                </a:solidFill>
                <a:latin typeface="Aptos"/>
              </a:defRPr>
            </a:pPr>
            <a:r>
              <a:t>WHAT THE WORK DEMONSTRATES</a:t>
            </a:r>
          </a:p>
        </p:txBody>
      </p:sp>
      <p:sp>
        <p:nvSpPr>
          <p:cNvPr id="5" name="TextBox 4"/>
          <p:cNvSpPr txBox="1"/>
          <p:nvPr/>
        </p:nvSpPr>
        <p:spPr>
          <a:xfrm>
            <a:off x="914400" y="2514600"/>
            <a:ext cx="4892040" cy="2011680"/>
          </a:xfrm>
          <a:prstGeom prst="rect">
            <a:avLst/>
          </a:prstGeom>
          <a:noFill/>
        </p:spPr>
        <p:txBody>
          <a:bodyPr wrap="square" lIns="45720" rIns="45720">
            <a:spAutoFit/>
          </a:bodyPr>
          <a:lstStyle/>
          <a:p>
            <a:pPr>
              <a:spcAft>
                <a:spcPts val="1200"/>
              </a:spcAft>
              <a:defRPr sz="1500">
                <a:solidFill>
                  <a:srgbClr val="FFFFFF"/>
                </a:solidFill>
                <a:latin typeface="Aptos"/>
              </a:defRPr>
            </a:pPr>
            <a:r>
              <a:t>Validated headline metrics and key data relationships.</a:t>
            </a:r>
          </a:p>
          <a:p>
            <a:pPr>
              <a:spcAft>
                <a:spcPts val="1200"/>
              </a:spcAft>
              <a:defRPr sz="1500">
                <a:solidFill>
                  <a:srgbClr val="FFFFFF"/>
                </a:solidFill>
                <a:latin typeface="Aptos"/>
              </a:defRPr>
            </a:pPr>
            <a:r>
              <a:t>Identified service, value-concentration and review patterns.</a:t>
            </a:r>
          </a:p>
          <a:p>
            <a:pPr>
              <a:spcAft>
                <a:spcPts val="1200"/>
              </a:spcAft>
              <a:defRPr sz="1500">
                <a:solidFill>
                  <a:srgbClr val="FFFFFF"/>
                </a:solidFill>
                <a:latin typeface="Aptos"/>
              </a:defRPr>
            </a:pPr>
            <a:r>
              <a:t>Translated findings into evidence-led recommendations.</a:t>
            </a:r>
          </a:p>
        </p:txBody>
      </p:sp>
      <p:sp>
        <p:nvSpPr>
          <p:cNvPr id="6" name="TextBox 5"/>
          <p:cNvSpPr txBox="1"/>
          <p:nvPr/>
        </p:nvSpPr>
        <p:spPr>
          <a:xfrm>
            <a:off x="6263640" y="2057400"/>
            <a:ext cx="4114800" cy="320040"/>
          </a:xfrm>
          <a:prstGeom prst="rect">
            <a:avLst/>
          </a:prstGeom>
          <a:noFill/>
        </p:spPr>
        <p:txBody>
          <a:bodyPr wrap="square" lIns="54864" rIns="54864" tIns="36576" bIns="27432">
            <a:spAutoFit/>
          </a:bodyPr>
          <a:lstStyle/>
          <a:p>
            <a:pPr>
              <a:spcAft>
                <a:spcPts val="600"/>
              </a:spcAft>
              <a:defRPr sz="1600" b="1">
                <a:solidFill>
                  <a:srgbClr val="E8AE43"/>
                </a:solidFill>
                <a:latin typeface="Aptos"/>
              </a:defRPr>
            </a:pPr>
            <a:r>
              <a:t>IMPORTANT LIMITATION</a:t>
            </a:r>
          </a:p>
        </p:txBody>
      </p:sp>
      <p:sp>
        <p:nvSpPr>
          <p:cNvPr id="7" name="TextBox 6"/>
          <p:cNvSpPr txBox="1"/>
          <p:nvPr/>
        </p:nvSpPr>
        <p:spPr>
          <a:xfrm>
            <a:off x="6309360" y="2560320"/>
            <a:ext cx="4572000" cy="1280160"/>
          </a:xfrm>
          <a:prstGeom prst="rect">
            <a:avLst/>
          </a:prstGeom>
          <a:noFill/>
        </p:spPr>
        <p:txBody>
          <a:bodyPr wrap="square" lIns="54864" rIns="54864" tIns="36576" bIns="27432">
            <a:spAutoFit/>
          </a:bodyPr>
          <a:lstStyle/>
          <a:p>
            <a:pPr>
              <a:spcAft>
                <a:spcPts val="600"/>
              </a:spcAft>
              <a:defRPr sz="1700" b="0">
                <a:solidFill>
                  <a:srgbClr val="FFFFFF"/>
                </a:solidFill>
                <a:latin typeface="Aptos"/>
              </a:defRPr>
            </a:pPr>
            <a:r>
              <a:t>The dataset is synthetic, and review flags are not confirmed fraud outcomes. Further real-world testing would be required before operational use.</a:t>
            </a:r>
          </a:p>
        </p:txBody>
      </p:sp>
      <p:sp>
        <p:nvSpPr>
          <p:cNvPr id="8" name="TextBox 7"/>
          <p:cNvSpPr txBox="1"/>
          <p:nvPr/>
        </p:nvSpPr>
        <p:spPr>
          <a:xfrm>
            <a:off x="868680" y="5212080"/>
            <a:ext cx="3657600" cy="502920"/>
          </a:xfrm>
          <a:prstGeom prst="rect">
            <a:avLst/>
          </a:prstGeom>
          <a:noFill/>
        </p:spPr>
        <p:txBody>
          <a:bodyPr wrap="square" lIns="54864" rIns="54864" tIns="36576" bIns="27432">
            <a:spAutoFit/>
          </a:bodyPr>
          <a:lstStyle/>
          <a:p>
            <a:pPr>
              <a:spcAft>
                <a:spcPts val="600"/>
              </a:spcAft>
              <a:defRPr sz="2500" b="1">
                <a:solidFill>
                  <a:srgbClr val="E8AE43"/>
                </a:solidFill>
                <a:latin typeface="Aptos"/>
              </a:defRPr>
            </a:pPr>
            <a:r>
              <a:t>Thank you</a:t>
            </a:r>
          </a:p>
        </p:txBody>
      </p:sp>
      <p:sp>
        <p:nvSpPr>
          <p:cNvPr id="9" name="TextBox 8"/>
          <p:cNvSpPr txBox="1"/>
          <p:nvPr/>
        </p:nvSpPr>
        <p:spPr>
          <a:xfrm>
            <a:off x="868680" y="5806440"/>
            <a:ext cx="10424160" cy="365760"/>
          </a:xfrm>
          <a:prstGeom prst="rect">
            <a:avLst/>
          </a:prstGeom>
          <a:noFill/>
        </p:spPr>
        <p:txBody>
          <a:bodyPr wrap="square" lIns="54864" rIns="54864" tIns="36576" bIns="27432">
            <a:spAutoFit/>
          </a:bodyPr>
          <a:lstStyle/>
          <a:p>
            <a:pPr>
              <a:spcAft>
                <a:spcPts val="600"/>
              </a:spcAft>
              <a:defRPr sz="1500" b="0">
                <a:solidFill>
                  <a:srgbClr val="D5E1EF"/>
                </a:solidFill>
                <a:latin typeface="Aptos"/>
              </a:defRPr>
            </a:pPr>
            <a:r>
              <a:t>Good analytics means checking the numbers, explaining the meaning and acting on evidence.</a:t>
            </a:r>
          </a:p>
        </p:txBody>
      </p:sp>
      <p:sp>
        <p:nvSpPr>
          <p:cNvPr id="10" name="TextBox 9"/>
          <p:cNvSpPr txBox="1"/>
          <p:nvPr/>
        </p:nvSpPr>
        <p:spPr>
          <a:xfrm>
            <a:off x="11109960" y="6473952"/>
            <a:ext cx="457200" cy="182880"/>
          </a:xfrm>
          <a:prstGeom prst="rect">
            <a:avLst/>
          </a:prstGeom>
          <a:noFill/>
        </p:spPr>
        <p:txBody>
          <a:bodyPr wrap="square" lIns="54864" rIns="54864" tIns="36576" bIns="27432">
            <a:spAutoFit/>
          </a:bodyPr>
          <a:lstStyle/>
          <a:p>
            <a:pPr algn="r">
              <a:spcAft>
                <a:spcPts val="600"/>
              </a:spcAft>
              <a:defRPr sz="900" b="1">
                <a:solidFill>
                  <a:srgbClr val="AABBCF"/>
                </a:solidFill>
                <a:latin typeface="Aptos"/>
              </a:defRPr>
            </a:pPr>
            <a: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FinTrust Week 4 Final Data Analytics Presentation</dc:title>
  <dc:subject>Confident 5–10 minute individual presentation with speaker notes</dc:subject>
  <dc:creator>AnalystLab Africa Experience Lab — Data Analytics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